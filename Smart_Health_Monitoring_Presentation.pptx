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9" r:id="rId3"/>
    <p:sldId id="260" r:id="rId4"/>
    <p:sldId id="261" r:id="rId5"/>
    <p:sldId id="263" r:id="rId6"/>
    <p:sldId id="275" r:id="rId7"/>
    <p:sldId id="276" r:id="rId8"/>
    <p:sldId id="277" r:id="rId9"/>
    <p:sldId id="267" r:id="rId10"/>
    <p:sldId id="268" r:id="rId11"/>
    <p:sldId id="269" r:id="rId12"/>
    <p:sldId id="270" r:id="rId13"/>
    <p:sldId id="271" r:id="rId14"/>
    <p:sldId id="272" r:id="rId15"/>
    <p:sldId id="279" r:id="rId16"/>
  </p:sldIdLst>
  <p:sldSz cx="12192000" cy="6858000"/>
  <p:notesSz cx="6858000" cy="9144000"/>
  <p:defaultTextStyle>
    <a:defPPr>
      <a:defRPr lang="sq-A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21A4-21ED-9B03-20D6-DCB12FCC0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8D865-56C0-C463-2A15-F31C798BB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04297-C8D7-46ED-778A-D0A58D45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F17D1-8BC0-CF2F-8196-6AC573AE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625A0-763B-FF53-EEBE-297BD74D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98451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C40D-B977-9B54-E30A-AEDB87A67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481B6-1388-547C-18DD-4F5B331C8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155B8-3712-0A17-9547-BCCCA228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E0285-7CF0-4EF8-DF14-96AE53CA3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60F66-C647-C780-0021-FD2001E1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95771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A7DC-E5CC-0CC6-EC31-EF03C5D4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211B9-5F43-11EA-74AB-CAAB998DE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E4DE-29D3-66A3-14F8-5AD8B776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C523F-CD54-89DF-F03C-0913E4AF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B6CF6-680F-B58C-93B2-19958A2B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65449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C879-C74E-7DD0-DCAD-D8F195271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8ECA7-04C9-942D-DB09-3F8D7A109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146C4-F319-2EBD-DE5E-A5B01DEB9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3FCDA-6E8B-0689-125C-DB3E6865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C58E2-1A32-C8D0-BCCA-AF53D476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72903-33DC-4FE7-44DA-EC17E195A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04825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984E-B42D-44F4-9675-6A9D7CB9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C961C-958A-D32B-4AD0-3F775C977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8B5B7-283D-DDCD-2FCD-0CAC15593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89A9F-BB57-614C-2D93-4E5E31DDD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DC3FB-3D0B-3251-2B45-38035C88D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F5706-9CE6-42FB-8D60-78BABA12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D72E2-62A6-CE1E-67AD-882B43D8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DE785-B820-FBAA-E053-F4732CEC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324788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EB29-107C-AC5F-8B87-AF049927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E5877-1014-2457-ACC8-1A9341C0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C983B-A062-05B0-9F53-76157495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208D9-1F1B-2CA1-E165-5ACC5EF5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69325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242E0-D8C4-68D5-96A6-669BD7A8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2E79F-E489-7101-C6F1-5CFBD455D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728CE-615E-7B8C-502F-D208D597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418208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2B8F-846F-9C8C-35D5-865AD6C8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57D96-9167-918F-1DFD-E6F00278A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0B5DD-633A-5AF9-4562-5EF7D4702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DC443-D537-8A8D-1D8A-2CEA922A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D0CE1-670E-81EF-24E5-BFE495DC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67F6C-59F3-D07C-F63A-72D38CE9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14750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F39D-0B90-2CC9-7E9D-3FE67D55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F9797-C1FC-11B4-A727-3011BAF7C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A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555C6-A14C-AC60-EF2C-1B405AE32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B98A5-FAA8-2506-051D-D86842FA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62F91-23B3-A9C5-59A9-1AF06062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67959-7C92-DFEE-89D6-22EBFB01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74368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F448-125F-7372-E77B-DA13FB52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9A9B8-3EE3-7805-78E7-18A651C83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AAA85-3FA9-1A6C-DEFC-AAB20FB8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7EBB0-4B7F-83FD-AE57-04035D0A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42F9-4001-5A4F-3916-F9FD68F5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333680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BDCF7-5E16-3225-5400-B5E0967EA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C1F20-DDB0-8445-509B-2C57850E8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E14BD-FDFA-9F07-4270-1C48F347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114C-BA1F-1A2C-ABA4-E151C4F0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D9F52-3779-BB1A-7402-373A8BA3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60347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0EA5A5"/>
              </a:gs>
              <a:gs pos="100000">
                <a:srgbClr val="1D6FB8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1" name="CornerMotif"/>
          <p:cNvSpPr/>
          <p:nvPr/>
        </p:nvSpPr>
        <p:spPr>
          <a:xfrm>
            <a:off x="381000" y="330200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0EA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8AB8B-9DC0-8641-AB24-514917B8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17439-BBF8-2071-B4E5-D24C43999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863F5-7A2E-5FCD-9B3D-07DF810D5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3868D-C81E-4FA8-98B1-2A2A44CFE9F3}" type="datetimeFigureOut">
              <a:rPr lang="sq-AL" smtClean="0"/>
              <a:t>13.6.2026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A7179-6F3E-4D32-89F6-3628B6641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250B6-8377-6A08-BFAA-2C1A48B3C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C5690-73F2-4E7B-BD8B-C9186DA3F613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81797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2A4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38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A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0E1A67-F2A0-4896-A0C3-631BDC45CEE8}"/>
              </a:ext>
            </a:extLst>
          </p:cNvPr>
          <p:cNvSpPr/>
          <p:nvPr/>
        </p:nvSpPr>
        <p:spPr>
          <a:xfrm>
            <a:off x="7112000" y="0"/>
            <a:ext cx="5080000" cy="6781800"/>
          </a:xfrm>
          <a:prstGeom prst="rect">
            <a:avLst/>
          </a:prstGeom>
          <a:gradFill>
            <a:gsLst>
              <a:gs pos="0">
                <a:srgbClr val="0EA5A5"/>
              </a:gs>
              <a:gs pos="55000">
                <a:srgbClr val="1D6FB8"/>
              </a:gs>
              <a:gs pos="100000">
                <a:srgbClr val="0F2A43"/>
              </a:gs>
            </a:gsLst>
            <a:lin ang="3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EF5DF-D43A-4619-A515-455407C2D399}"/>
              </a:ext>
            </a:extLst>
          </p:cNvPr>
          <p:cNvSpPr/>
          <p:nvPr/>
        </p:nvSpPr>
        <p:spPr>
          <a:xfrm>
            <a:off x="7112000" y="0"/>
            <a:ext cx="50800" cy="6781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9A11B9-E0E2-4ED3-B670-8B4146F18698}"/>
              </a:ext>
            </a:extLst>
          </p:cNvPr>
          <p:cNvSpPr txBox="1"/>
          <p:nvPr/>
        </p:nvSpPr>
        <p:spPr>
          <a:xfrm>
            <a:off x="889000" y="14986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1300" b="1">
                <a:solidFill>
                  <a:srgbClr val="0EA5A5"/>
                </a:solidFill>
              </a:rPr>
              <a:t>INTERNET OF THINGS   ·   PROJEKTI 2</a:t>
            </a:r>
            <a:endParaRPr lang="sq-AL" sz="1300" b="1">
              <a:solidFill>
                <a:srgbClr val="0EA5A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029554-3987-4EC1-97C7-2E09680DE936}"/>
              </a:ext>
            </a:extLst>
          </p:cNvPr>
          <p:cNvSpPr txBox="1"/>
          <p:nvPr/>
        </p:nvSpPr>
        <p:spPr>
          <a:xfrm>
            <a:off x="863600" y="1854200"/>
            <a:ext cx="6096000" cy="1397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sq-AL" sz="4600" b="1">
                <a:solidFill>
                  <a:srgbClr val="0F2A43"/>
                </a:solidFill>
              </a:rPr>
              <a:t>Smart Health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D270F-A77F-46DC-BC74-7229D83809C2}"/>
              </a:ext>
            </a:extLst>
          </p:cNvPr>
          <p:cNvSpPr txBox="1"/>
          <p:nvPr/>
        </p:nvSpPr>
        <p:spPr>
          <a:xfrm>
            <a:off x="889000" y="3251200"/>
            <a:ext cx="5969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sq-AL">
                <a:solidFill>
                  <a:srgbClr val="1D6FB8"/>
                </a:solidFill>
              </a:rPr>
              <a:t>Ndërtimi i një sistemi IoT për monitorimin e shëndetit në kohë reale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CB8BD2-35F3-4276-B5EB-BA2DF3BE5069}"/>
              </a:ext>
            </a:extLst>
          </p:cNvPr>
          <p:cNvSpPr/>
          <p:nvPr/>
        </p:nvSpPr>
        <p:spPr>
          <a:xfrm>
            <a:off x="914400" y="4191000"/>
            <a:ext cx="1524000" cy="50800"/>
          </a:xfrm>
          <a:prstGeom prst="rect">
            <a:avLst/>
          </a:prstGeom>
          <a:solidFill>
            <a:srgbClr val="F4A1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01D81-9A5C-436C-988E-835F025335C4}"/>
              </a:ext>
            </a:extLst>
          </p:cNvPr>
          <p:cNvSpPr txBox="1"/>
          <p:nvPr/>
        </p:nvSpPr>
        <p:spPr>
          <a:xfrm>
            <a:off x="889000" y="4445000"/>
            <a:ext cx="5969000" cy="812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sq-AL" sz="1350">
                <a:solidFill>
                  <a:srgbClr val="21384A"/>
                </a:solidFill>
              </a:rPr>
              <a:t>Universiteti i Prishtinës “Hasan Prishtina”
Fakulteti i Inxhinierisë Elektrike dhe Kompjuterike
Inxhinieri Kompjuterike dhe Softuerike — Master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6E497D-BFD8-4450-8ED0-74A11DF2497C}"/>
              </a:ext>
            </a:extLst>
          </p:cNvPr>
          <p:cNvSpPr txBox="1"/>
          <p:nvPr/>
        </p:nvSpPr>
        <p:spPr>
          <a:xfrm>
            <a:off x="889000" y="53086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</a:rPr>
              <a:t>Lënda: Internet of Things    |    Profesor: Besmir Sejdiu    |    Grupi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1E6D5C-CFA8-4EF5-A461-49B06063EEED}"/>
              </a:ext>
            </a:extLst>
          </p:cNvPr>
          <p:cNvSpPr txBox="1"/>
          <p:nvPr/>
        </p:nvSpPr>
        <p:spPr>
          <a:xfrm>
            <a:off x="889000" y="56642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it-IT" sz="1500" b="1">
                <a:solidFill>
                  <a:srgbClr val="0F2A43"/>
                </a:solidFill>
              </a:rPr>
              <a:t>Rinor Ukshini   ·   Rina Bunjaku   ·   Arton Gërguri</a:t>
            </a:r>
            <a:endParaRPr lang="sq-AL" sz="1500" b="1">
              <a:solidFill>
                <a:srgbClr val="0F2A4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FDC96-8464-4CC9-969F-155725D15D7C}"/>
              </a:ext>
            </a:extLst>
          </p:cNvPr>
          <p:cNvSpPr txBox="1"/>
          <p:nvPr/>
        </p:nvSpPr>
        <p:spPr>
          <a:xfrm>
            <a:off x="889000" y="60452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</a:rPr>
              <a:t>Prishtinë, 2026</a:t>
            </a:r>
          </a:p>
        </p:txBody>
      </p:sp>
      <p:sp>
        <p:nvSpPr>
          <p:cNvPr id="60" name="ECG Pulse"/>
          <p:cNvSpPr/>
          <p:nvPr/>
        </p:nvSpPr>
        <p:spPr>
          <a:xfrm>
            <a:off x="7620000" y="4445000"/>
            <a:ext cx="4064000" cy="762000"/>
          </a:xfrm>
          <a:custGeom>
            <a:avLst/>
            <a:gdLst/>
            <a:ahLst/>
            <a:cxnLst/>
            <a:rect l="0" t="0" r="0" b="0"/>
            <a:pathLst>
              <a:path w="4064000" h="762000">
                <a:moveTo>
                  <a:pt x="0" y="381000"/>
                </a:moveTo>
                <a:lnTo>
                  <a:pt x="1150000" y="381000"/>
                </a:lnTo>
                <a:lnTo>
                  <a:pt x="1330000" y="300000"/>
                </a:lnTo>
                <a:lnTo>
                  <a:pt x="1520000" y="381000"/>
                </a:lnTo>
                <a:lnTo>
                  <a:pt x="1720000" y="381000"/>
                </a:lnTo>
                <a:lnTo>
                  <a:pt x="1830000" y="520000"/>
                </a:lnTo>
                <a:lnTo>
                  <a:pt x="1950000" y="60000"/>
                </a:lnTo>
                <a:lnTo>
                  <a:pt x="2070000" y="680000"/>
                </a:lnTo>
                <a:lnTo>
                  <a:pt x="2180000" y="381000"/>
                </a:lnTo>
                <a:lnTo>
                  <a:pt x="2420000" y="381000"/>
                </a:lnTo>
                <a:lnTo>
                  <a:pt x="2560000" y="320000"/>
                </a:lnTo>
                <a:lnTo>
                  <a:pt x="2720000" y="381000"/>
                </a:lnTo>
                <a:lnTo>
                  <a:pt x="4064000" y="381000"/>
                </a:lnTo>
              </a:path>
            </a:pathLst>
          </a:custGeom>
          <a:noFill/>
          <a:ln w="34925" cap="rnd">
            <a:solidFill>
              <a:srgbClr val="FFFFFF">
                <a:alpha val="92000"/>
              </a:srgbClr>
            </a:solidFill>
            <a:round/>
          </a:ln>
        </p:spPr>
        <p:txBody>
          <a:bodyPr/>
          <a:lstStyle/>
          <a:p>
            <a:endParaRPr/>
          </a:p>
        </p:txBody>
      </p:sp>
      <p:pic>
        <p:nvPicPr>
          <p:cNvPr id="61" name="Graphic 61" descr="White heart with pulse on gradient pan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9000" y="190500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E001-4F2A-3522-AD4D-8552CDBF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Hyrje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27D54-2245-487A-AB0C-BD9D84BF3A8D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12899-9BCB-41C7-868C-0A4D43694E26}"/>
              </a:ext>
            </a:extLst>
          </p:cNvPr>
          <p:cNvSpPr txBox="1"/>
          <p:nvPr/>
        </p:nvSpPr>
        <p:spPr>
          <a:xfrm>
            <a:off x="762000" y="1651000"/>
            <a:ext cx="5969000" cy="1778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1700">
                <a:solidFill>
                  <a:srgbClr val="21384A"/>
                </a:solidFill>
                <a:latin typeface="Segoe UI"/>
                <a:cs typeface="Segoe UI"/>
              </a:rPr>
              <a:t>Smart Health Monitoring është një sistem IoT i plotë që demonstron mbledhjen, transmetimin, përpunimin në kohë reale dhe ruajtjen e të dhënave të sensorëve — të vizualizuara përmes një ndërfaqeje moderne në ueb.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CC6F5-F194-4EAC-8B1A-9BD7BC5505E0}"/>
              </a:ext>
            </a:extLst>
          </p:cNvPr>
          <p:cNvSpPr txBox="1"/>
          <p:nvPr/>
        </p:nvSpPr>
        <p:spPr>
          <a:xfrm>
            <a:off x="762000" y="3429000"/>
            <a:ext cx="5969000" cy="1778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1700">
                <a:solidFill>
                  <a:srgbClr val="21384A"/>
                </a:solidFill>
                <a:latin typeface="Segoe UI"/>
                <a:cs typeface="Segoe UI"/>
              </a:rPr>
              <a:t>Domeni i zgjedhur është monitorimi i shëndetit në një mjedis spitalor. Në mungesë të sensorëve fizikë, një simulator gjeneron lexime realiste të parametrave vitalë çdo rreth dy sekonda.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99BFCB-8A5A-469C-8FE9-278758259271}"/>
              </a:ext>
            </a:extLst>
          </p:cNvPr>
          <p:cNvSpPr/>
          <p:nvPr/>
        </p:nvSpPr>
        <p:spPr>
          <a:xfrm>
            <a:off x="7112000" y="1651000"/>
            <a:ext cx="4318000" cy="3810000"/>
          </a:xfrm>
          <a:prstGeom prst="roundRect">
            <a:avLst/>
          </a:prstGeom>
          <a:solidFill>
            <a:srgbClr val="F2F8F9"/>
          </a:solidFill>
          <a:ln w="15875" cap="flat" cmpd="sng" algn="ctr">
            <a:solidFill>
              <a:srgbClr val="0E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9FE00-50D6-484E-8C09-335269E28604}"/>
              </a:ext>
            </a:extLst>
          </p:cNvPr>
          <p:cNvSpPr txBox="1"/>
          <p:nvPr/>
        </p:nvSpPr>
        <p:spPr>
          <a:xfrm>
            <a:off x="7302500" y="1905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1300" b="1">
                <a:solidFill>
                  <a:srgbClr val="0EA5A5"/>
                </a:solidFill>
                <a:latin typeface="Montserrat"/>
              </a:rPr>
              <a:t>NË NJË VËSHTRIM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60BDE-BBA1-4224-AA16-6D4C56458926}"/>
              </a:ext>
            </a:extLst>
          </p:cNvPr>
          <p:cNvSpPr txBox="1"/>
          <p:nvPr/>
        </p:nvSpPr>
        <p:spPr>
          <a:xfrm>
            <a:off x="7340600" y="2387600"/>
            <a:ext cx="1143000" cy="381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2000" b="1">
                <a:solidFill>
                  <a:srgbClr val="1D6FB8"/>
                </a:solidFill>
                <a:latin typeface="Montserrat"/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4425D-3CD7-4DBA-A101-886A6941D09E}"/>
              </a:ext>
            </a:extLst>
          </p:cNvPr>
          <p:cNvSpPr txBox="1"/>
          <p:nvPr/>
        </p:nvSpPr>
        <p:spPr>
          <a:xfrm>
            <a:off x="8610600" y="24384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1500">
                <a:solidFill>
                  <a:srgbClr val="21384A"/>
                </a:solidFill>
                <a:latin typeface="Segoe UI"/>
                <a:cs typeface="Segoe UI"/>
              </a:rPr>
              <a:t>pacientë të monitoruar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F236B-213F-4080-AA32-04862F00A5EF}"/>
              </a:ext>
            </a:extLst>
          </p:cNvPr>
          <p:cNvSpPr txBox="1"/>
          <p:nvPr/>
        </p:nvSpPr>
        <p:spPr>
          <a:xfrm>
            <a:off x="7340600" y="3124200"/>
            <a:ext cx="1143000" cy="381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2000" b="1">
                <a:solidFill>
                  <a:srgbClr val="1D6FB8"/>
                </a:solidFill>
                <a:latin typeface="Montserrat"/>
              </a:rPr>
              <a:t>101–110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0521B8-A307-450D-A03A-385A53A6C7E7}"/>
              </a:ext>
            </a:extLst>
          </p:cNvPr>
          <p:cNvSpPr txBox="1"/>
          <p:nvPr/>
        </p:nvSpPr>
        <p:spPr>
          <a:xfrm>
            <a:off x="8610600" y="31750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1500">
                <a:solidFill>
                  <a:srgbClr val="21384A"/>
                </a:solidFill>
                <a:latin typeface="Segoe UI"/>
                <a:cs typeface="Segoe UI"/>
              </a:rPr>
              <a:t>dhomat e spitalit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4FB2A-C953-4CC1-AEAC-86F2BE8C0264}"/>
              </a:ext>
            </a:extLst>
          </p:cNvPr>
          <p:cNvSpPr txBox="1"/>
          <p:nvPr/>
        </p:nvSpPr>
        <p:spPr>
          <a:xfrm>
            <a:off x="7340600" y="3860800"/>
            <a:ext cx="1143000" cy="381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2000" b="1">
                <a:solidFill>
                  <a:srgbClr val="1D6FB8"/>
                </a:solidFill>
                <a:latin typeface="Montserrat"/>
              </a:rPr>
              <a:t>~2 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A5332A-05FD-4508-AA67-3935D04825B7}"/>
              </a:ext>
            </a:extLst>
          </p:cNvPr>
          <p:cNvSpPr txBox="1"/>
          <p:nvPr/>
        </p:nvSpPr>
        <p:spPr>
          <a:xfrm>
            <a:off x="8610600" y="3911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1500">
                <a:solidFill>
                  <a:srgbClr val="21384A"/>
                </a:solidFill>
                <a:latin typeface="Segoe UI"/>
                <a:cs typeface="Segoe UI"/>
              </a:rPr>
              <a:t>interval i leximit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13D526-99F6-470A-A883-D7B410D65379}"/>
              </a:ext>
            </a:extLst>
          </p:cNvPr>
          <p:cNvSpPr txBox="1"/>
          <p:nvPr/>
        </p:nvSpPr>
        <p:spPr>
          <a:xfrm>
            <a:off x="7340600" y="4597400"/>
            <a:ext cx="1143000" cy="381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2000" b="1">
                <a:solidFill>
                  <a:srgbClr val="1D6FB8"/>
                </a:solidFill>
                <a:latin typeface="Montserrat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F7163B-5B84-4AE3-A06D-7B1F0F2B7EEA}"/>
              </a:ext>
            </a:extLst>
          </p:cNvPr>
          <p:cNvSpPr txBox="1"/>
          <p:nvPr/>
        </p:nvSpPr>
        <p:spPr>
          <a:xfrm>
            <a:off x="8610600" y="4648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spAutoFit/>
          </a:bodyPr>
          <a:lstStyle/>
          <a:p>
            <a:pPr algn="l"/>
            <a:r>
              <a:rPr lang="sq-AL" sz="1500">
                <a:solidFill>
                  <a:srgbClr val="21384A"/>
                </a:solidFill>
                <a:latin typeface="Segoe UI"/>
                <a:cs typeface="Segoe UI"/>
              </a:rPr>
              <a:t>parametra vitalë</a:t>
            </a:r>
          </a:p>
        </p:txBody>
      </p:sp>
    </p:spTree>
    <p:extLst>
      <p:ext uri="{BB962C8B-B14F-4D97-AF65-F5344CB8AC3E}">
        <p14:creationId xmlns:p14="http://schemas.microsoft.com/office/powerpoint/2010/main" val="2653963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F82C5-9AD3-737A-6865-21516837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Objektivat e projektit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EBB3E-44A9-4F22-B603-6292F5681934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91DDCD-ECE4-411D-B869-8F17E8DBF07F}"/>
              </a:ext>
            </a:extLst>
          </p:cNvPr>
          <p:cNvSpPr/>
          <p:nvPr/>
        </p:nvSpPr>
        <p:spPr>
          <a:xfrm>
            <a:off x="762000" y="1574800"/>
            <a:ext cx="5143500" cy="1422400"/>
          </a:xfrm>
          <a:prstGeom prst="roundRect">
            <a:avLst/>
          </a:prstGeom>
          <a:solidFill>
            <a:srgbClr val="F2F8F9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83A69A-F895-45C7-B3FB-C4ADF06FC76F}"/>
              </a:ext>
            </a:extLst>
          </p:cNvPr>
          <p:cNvSpPr/>
          <p:nvPr/>
        </p:nvSpPr>
        <p:spPr>
          <a:xfrm>
            <a:off x="990600" y="20066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F6CBA-66F3-4042-9B70-5FB291C60684}"/>
              </a:ext>
            </a:extLst>
          </p:cNvPr>
          <p:cNvSpPr txBox="1"/>
          <p:nvPr/>
        </p:nvSpPr>
        <p:spPr>
          <a:xfrm>
            <a:off x="1752600" y="1879600"/>
            <a:ext cx="39751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700" b="1">
                <a:solidFill>
                  <a:srgbClr val="0F2A43"/>
                </a:solidFill>
                <a:latin typeface="Montserrat"/>
              </a:rPr>
              <a:t>Mbledhja e të dhënave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40EB5-9BF0-4BA9-99F0-E5744DC9735A}"/>
              </a:ext>
            </a:extLst>
          </p:cNvPr>
          <p:cNvSpPr txBox="1"/>
          <p:nvPr/>
        </p:nvSpPr>
        <p:spPr>
          <a:xfrm>
            <a:off x="1752600" y="2260600"/>
            <a:ext cx="3975100" cy="558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400">
                <a:solidFill>
                  <a:srgbClr val="5A6B78"/>
                </a:solidFill>
                <a:latin typeface="Segoe UI"/>
                <a:cs typeface="Segoe UI"/>
              </a:rPr>
              <a:t>Parametra vitalë nga sensorë të simuluar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6706D1-CAF3-421F-B215-17DC715245FA}"/>
              </a:ext>
            </a:extLst>
          </p:cNvPr>
          <p:cNvSpPr/>
          <p:nvPr/>
        </p:nvSpPr>
        <p:spPr>
          <a:xfrm>
            <a:off x="6286500" y="1574800"/>
            <a:ext cx="5143500" cy="1422400"/>
          </a:xfrm>
          <a:prstGeom prst="roundRect">
            <a:avLst/>
          </a:prstGeom>
          <a:solidFill>
            <a:srgbClr val="F2F8F9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975304-E775-4078-90EC-CB8EBF4EC23E}"/>
              </a:ext>
            </a:extLst>
          </p:cNvPr>
          <p:cNvSpPr/>
          <p:nvPr/>
        </p:nvSpPr>
        <p:spPr>
          <a:xfrm>
            <a:off x="6515100" y="20066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1518A4-9F72-4002-BAC0-68359B5FE6EB}"/>
              </a:ext>
            </a:extLst>
          </p:cNvPr>
          <p:cNvSpPr txBox="1"/>
          <p:nvPr/>
        </p:nvSpPr>
        <p:spPr>
          <a:xfrm>
            <a:off x="7277100" y="1879600"/>
            <a:ext cx="39751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700" b="1">
                <a:solidFill>
                  <a:srgbClr val="0F2A43"/>
                </a:solidFill>
                <a:latin typeface="Montserrat"/>
              </a:rPr>
              <a:t>Transmetimi në kohë reale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A10D7-D66A-47D8-AB45-EA45B34ABC44}"/>
              </a:ext>
            </a:extLst>
          </p:cNvPr>
          <p:cNvSpPr txBox="1"/>
          <p:nvPr/>
        </p:nvSpPr>
        <p:spPr>
          <a:xfrm>
            <a:off x="7277100" y="2260600"/>
            <a:ext cx="3975100" cy="558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400">
                <a:solidFill>
                  <a:srgbClr val="5A6B78"/>
                </a:solidFill>
                <a:latin typeface="Segoe UI"/>
                <a:cs typeface="Segoe UI"/>
              </a:rPr>
              <a:t>Apache Kafka si shtresë qendrore e mesazheve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C95AD8-631B-4041-9A92-1B1B9A134694}"/>
              </a:ext>
            </a:extLst>
          </p:cNvPr>
          <p:cNvSpPr/>
          <p:nvPr/>
        </p:nvSpPr>
        <p:spPr>
          <a:xfrm>
            <a:off x="762000" y="3200400"/>
            <a:ext cx="5143500" cy="1422400"/>
          </a:xfrm>
          <a:prstGeom prst="roundRect">
            <a:avLst/>
          </a:prstGeom>
          <a:solidFill>
            <a:srgbClr val="F2F8F9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2E591D-7BF3-4538-B2B2-5E19AE5CF4EF}"/>
              </a:ext>
            </a:extLst>
          </p:cNvPr>
          <p:cNvSpPr/>
          <p:nvPr/>
        </p:nvSpPr>
        <p:spPr>
          <a:xfrm>
            <a:off x="990600" y="36322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996256-2285-4DED-A776-1AEB8068D83D}"/>
              </a:ext>
            </a:extLst>
          </p:cNvPr>
          <p:cNvSpPr txBox="1"/>
          <p:nvPr/>
        </p:nvSpPr>
        <p:spPr>
          <a:xfrm>
            <a:off x="1752600" y="3505200"/>
            <a:ext cx="39751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700" b="1">
                <a:solidFill>
                  <a:srgbClr val="0F2A43"/>
                </a:solidFill>
                <a:latin typeface="Montserrat"/>
              </a:rPr>
              <a:t>Përpunimi i rrjedhës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2FB2D-34C3-42AE-8981-630A2066D49A}"/>
              </a:ext>
            </a:extLst>
          </p:cNvPr>
          <p:cNvSpPr txBox="1"/>
          <p:nvPr/>
        </p:nvSpPr>
        <p:spPr>
          <a:xfrm>
            <a:off x="1752600" y="3886200"/>
            <a:ext cx="3975100" cy="558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400">
                <a:solidFill>
                  <a:srgbClr val="5A6B78"/>
                </a:solidFill>
                <a:latin typeface="Segoe UI"/>
                <a:cs typeface="Segoe UI"/>
              </a:rPr>
              <a:t>Apache Spark Structured Streaming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4F08C6-1646-4650-88A3-87EA0E0E5E18}"/>
              </a:ext>
            </a:extLst>
          </p:cNvPr>
          <p:cNvSpPr/>
          <p:nvPr/>
        </p:nvSpPr>
        <p:spPr>
          <a:xfrm>
            <a:off x="6286500" y="3200400"/>
            <a:ext cx="5143500" cy="1422400"/>
          </a:xfrm>
          <a:prstGeom prst="roundRect">
            <a:avLst/>
          </a:prstGeom>
          <a:solidFill>
            <a:srgbClr val="F2F8F9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34F8C8-6042-4403-9D9C-B903A4EF6E6F}"/>
              </a:ext>
            </a:extLst>
          </p:cNvPr>
          <p:cNvSpPr/>
          <p:nvPr/>
        </p:nvSpPr>
        <p:spPr>
          <a:xfrm>
            <a:off x="6515100" y="36322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96B642-F59F-4E9E-A84B-79D6F7172C86}"/>
              </a:ext>
            </a:extLst>
          </p:cNvPr>
          <p:cNvSpPr txBox="1"/>
          <p:nvPr/>
        </p:nvSpPr>
        <p:spPr>
          <a:xfrm>
            <a:off x="7277100" y="3505200"/>
            <a:ext cx="39751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700" b="1">
                <a:solidFill>
                  <a:srgbClr val="0F2A43"/>
                </a:solidFill>
                <a:latin typeface="Montserrat"/>
              </a:rPr>
              <a:t>Ruajtja e të dhënave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E3818E-9717-4279-9E57-8A2362C8C065}"/>
              </a:ext>
            </a:extLst>
          </p:cNvPr>
          <p:cNvSpPr txBox="1"/>
          <p:nvPr/>
        </p:nvSpPr>
        <p:spPr>
          <a:xfrm>
            <a:off x="7277100" y="3886200"/>
            <a:ext cx="3975100" cy="558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400">
                <a:solidFill>
                  <a:srgbClr val="5A6B78"/>
                </a:solidFill>
                <a:latin typeface="Segoe UI"/>
                <a:cs typeface="Segoe UI"/>
              </a:rPr>
              <a:t>Apache Cassandra — raw dhe të agreguara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FDEFF5-0A2F-4CEF-9BB9-2040025DED37}"/>
              </a:ext>
            </a:extLst>
          </p:cNvPr>
          <p:cNvSpPr/>
          <p:nvPr/>
        </p:nvSpPr>
        <p:spPr>
          <a:xfrm>
            <a:off x="762000" y="4826000"/>
            <a:ext cx="5143500" cy="1422400"/>
          </a:xfrm>
          <a:prstGeom prst="roundRect">
            <a:avLst/>
          </a:prstGeom>
          <a:solidFill>
            <a:srgbClr val="F2F8F9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FC55F1-A8C2-4A46-8365-193207A07B9C}"/>
              </a:ext>
            </a:extLst>
          </p:cNvPr>
          <p:cNvSpPr/>
          <p:nvPr/>
        </p:nvSpPr>
        <p:spPr>
          <a:xfrm>
            <a:off x="990600" y="52578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99576B-E9DE-4E32-8D47-1F384837D1F9}"/>
              </a:ext>
            </a:extLst>
          </p:cNvPr>
          <p:cNvSpPr txBox="1"/>
          <p:nvPr/>
        </p:nvSpPr>
        <p:spPr>
          <a:xfrm>
            <a:off x="1752600" y="5130800"/>
            <a:ext cx="39751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700" b="1">
                <a:solidFill>
                  <a:srgbClr val="0F2A43"/>
                </a:solidFill>
                <a:latin typeface="Montserrat"/>
              </a:rPr>
              <a:t>Vizualizimi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E8346D-42B7-485C-AC1A-C8480E62784C}"/>
              </a:ext>
            </a:extLst>
          </p:cNvPr>
          <p:cNvSpPr txBox="1"/>
          <p:nvPr/>
        </p:nvSpPr>
        <p:spPr>
          <a:xfrm>
            <a:off x="1752600" y="5511800"/>
            <a:ext cx="3975100" cy="558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fr-FR" sz="1400">
                <a:solidFill>
                  <a:srgbClr val="5A6B78"/>
                </a:solidFill>
                <a:latin typeface="Segoe UI"/>
                <a:cs typeface="Segoe UI"/>
              </a:rPr>
              <a:t>Ndërfaqe moderne ueb në Vue 3</a:t>
            </a:r>
            <a:endParaRPr lang="sq-AL" sz="1400">
              <a:solidFill>
                <a:srgbClr val="5A6B78"/>
              </a:solidFill>
              <a:latin typeface="Segoe UI"/>
              <a:cs typeface="Segoe UI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4E13FA6-CF87-448F-909E-6F5EC6D3E0DC}"/>
              </a:ext>
            </a:extLst>
          </p:cNvPr>
          <p:cNvSpPr/>
          <p:nvPr/>
        </p:nvSpPr>
        <p:spPr>
          <a:xfrm>
            <a:off x="6286500" y="4826000"/>
            <a:ext cx="5143500" cy="1422400"/>
          </a:xfrm>
          <a:prstGeom prst="roundRect">
            <a:avLst/>
          </a:prstGeom>
          <a:solidFill>
            <a:srgbClr val="F2F8F9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754E31-D38C-4ED2-840A-362A4AB5629C}"/>
              </a:ext>
            </a:extLst>
          </p:cNvPr>
          <p:cNvSpPr/>
          <p:nvPr/>
        </p:nvSpPr>
        <p:spPr>
          <a:xfrm>
            <a:off x="6515100" y="52578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1A3F88-15E7-4637-A563-E635DA90BEF1}"/>
              </a:ext>
            </a:extLst>
          </p:cNvPr>
          <p:cNvSpPr txBox="1"/>
          <p:nvPr/>
        </p:nvSpPr>
        <p:spPr>
          <a:xfrm>
            <a:off x="7277100" y="5130800"/>
            <a:ext cx="39751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700" b="1">
                <a:solidFill>
                  <a:srgbClr val="0F2A43"/>
                </a:solidFill>
                <a:latin typeface="Montserrat"/>
              </a:rPr>
              <a:t>Komponentë të avancuar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386650-40C4-4607-9E84-4A7736FBDF47}"/>
              </a:ext>
            </a:extLst>
          </p:cNvPr>
          <p:cNvSpPr txBox="1"/>
          <p:nvPr/>
        </p:nvSpPr>
        <p:spPr>
          <a:xfrm>
            <a:off x="7277100" y="5511800"/>
            <a:ext cx="3975100" cy="558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it-IT" sz="1400">
                <a:solidFill>
                  <a:srgbClr val="5A6B78"/>
                </a:solidFill>
                <a:latin typeface="Segoe UI"/>
                <a:cs typeface="Segoe UI"/>
              </a:rPr>
              <a:t>AI, sistemi i alarmeve dhe performanca</a:t>
            </a:r>
            <a:endParaRPr lang="sq-AL" sz="1400">
              <a:solidFill>
                <a:srgbClr val="5A6B7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88550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CCABD-65F6-4F24-FFF6-FF7F3867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Arkitektura e sistemit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1D31DB-699F-4AA7-918C-00D04C500945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6E715-9120-4272-A463-981106529BF0}"/>
              </a:ext>
            </a:extLst>
          </p:cNvPr>
          <p:cNvSpPr txBox="1"/>
          <p:nvPr/>
        </p:nvSpPr>
        <p:spPr>
          <a:xfrm>
            <a:off x="762000" y="6172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200" i="1">
                <a:solidFill>
                  <a:srgbClr val="5A6B78"/>
                </a:solidFill>
                <a:latin typeface="Segoe UI"/>
                <a:cs typeface="Segoe UI"/>
              </a:rPr>
              <a:t>Figura 1: Diagrami i arkitekturës së sistemit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5A0EB-EC11-41D4-967D-A192800A93EE}"/>
              </a:ext>
            </a:extLst>
          </p:cNvPr>
          <p:cNvSpPr txBox="1"/>
          <p:nvPr/>
        </p:nvSpPr>
        <p:spPr>
          <a:xfrm>
            <a:off x="5969000" y="14732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b="1">
                <a:solidFill>
                  <a:srgbClr val="0F2A43"/>
                </a:solidFill>
                <a:latin typeface="Montserrat"/>
              </a:rPr>
              <a:t>Rrjedha e të dhënave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BA9EEE-F1C4-4506-85F1-C48BC13D4DB8}"/>
              </a:ext>
            </a:extLst>
          </p:cNvPr>
          <p:cNvSpPr/>
          <p:nvPr/>
        </p:nvSpPr>
        <p:spPr>
          <a:xfrm>
            <a:off x="5969000" y="1905000"/>
            <a:ext cx="5461000" cy="584200"/>
          </a:xfrm>
          <a:prstGeom prst="roundRect">
            <a:avLst/>
          </a:prstGeom>
          <a:solidFill>
            <a:srgbClr val="F7FAFB"/>
          </a:solidFill>
          <a:ln w="15875" cap="flat" cmpd="sng" algn="ctr">
            <a:solidFill>
              <a:srgbClr val="1D6F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66EB4B-174A-4689-B219-14769F286430}"/>
              </a:ext>
            </a:extLst>
          </p:cNvPr>
          <p:cNvSpPr/>
          <p:nvPr/>
        </p:nvSpPr>
        <p:spPr>
          <a:xfrm>
            <a:off x="5969000" y="2006600"/>
            <a:ext cx="63500" cy="381000"/>
          </a:xfrm>
          <a:prstGeom prst="rect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73DE2-403E-4ABE-9D0B-42E2CB7A23A8}"/>
              </a:ext>
            </a:extLst>
          </p:cNvPr>
          <p:cNvSpPr txBox="1"/>
          <p:nvPr/>
        </p:nvSpPr>
        <p:spPr>
          <a:xfrm>
            <a:off x="6197600" y="19685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Simulator.App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3C265-8B7B-433F-A324-F4D5D665044A}"/>
              </a:ext>
            </a:extLst>
          </p:cNvPr>
          <p:cNvSpPr txBox="1"/>
          <p:nvPr/>
        </p:nvSpPr>
        <p:spPr>
          <a:xfrm>
            <a:off x="6197600" y="2222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Gjeneron lexime vitale realiste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942F09F-6B84-41F2-A9C7-CEBFB896755C}"/>
              </a:ext>
            </a:extLst>
          </p:cNvPr>
          <p:cNvSpPr/>
          <p:nvPr/>
        </p:nvSpPr>
        <p:spPr>
          <a:xfrm rot="10800000">
            <a:off x="8610600" y="2489200"/>
            <a:ext cx="152400" cy="101600"/>
          </a:xfrm>
          <a:prstGeom prst="triangle">
            <a:avLst/>
          </a:prstGeom>
          <a:solidFill>
            <a:srgbClr val="BCCF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AA0E3B-EDBB-4F21-89D3-AEF30CEC1AEF}"/>
              </a:ext>
            </a:extLst>
          </p:cNvPr>
          <p:cNvSpPr/>
          <p:nvPr/>
        </p:nvSpPr>
        <p:spPr>
          <a:xfrm>
            <a:off x="5969000" y="2590800"/>
            <a:ext cx="5461000" cy="584200"/>
          </a:xfrm>
          <a:prstGeom prst="roundRect">
            <a:avLst/>
          </a:prstGeom>
          <a:solidFill>
            <a:srgbClr val="F7FAFB"/>
          </a:solidFill>
          <a:ln w="15875" cap="flat" cmpd="sng" algn="ctr">
            <a:solidFill>
              <a:srgbClr val="0E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DA61B-7988-4231-9F81-4D37FB6504BE}"/>
              </a:ext>
            </a:extLst>
          </p:cNvPr>
          <p:cNvSpPr/>
          <p:nvPr/>
        </p:nvSpPr>
        <p:spPr>
          <a:xfrm>
            <a:off x="5969000" y="2692400"/>
            <a:ext cx="63500" cy="3810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F2D93-D8A4-4792-AA26-9F99CA46EBEE}"/>
              </a:ext>
            </a:extLst>
          </p:cNvPr>
          <p:cNvSpPr txBox="1"/>
          <p:nvPr/>
        </p:nvSpPr>
        <p:spPr>
          <a:xfrm>
            <a:off x="6197600" y="26543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Apache Kafka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1EDAC-AA84-479C-A5D7-19F3F8E5B59A}"/>
              </a:ext>
            </a:extLst>
          </p:cNvPr>
          <p:cNvSpPr txBox="1"/>
          <p:nvPr/>
        </p:nvSpPr>
        <p:spPr>
          <a:xfrm>
            <a:off x="6197600" y="29083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Transmetim mesazhesh — topic health-vitals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0971D4C-C411-4A2D-B151-D64D80DBAFF1}"/>
              </a:ext>
            </a:extLst>
          </p:cNvPr>
          <p:cNvSpPr/>
          <p:nvPr/>
        </p:nvSpPr>
        <p:spPr>
          <a:xfrm rot="10800000">
            <a:off x="8610600" y="3175000"/>
            <a:ext cx="152400" cy="101600"/>
          </a:xfrm>
          <a:prstGeom prst="triangle">
            <a:avLst/>
          </a:prstGeom>
          <a:solidFill>
            <a:srgbClr val="BCCF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50FD416-00D7-4AB9-87DC-C25820AA808B}"/>
              </a:ext>
            </a:extLst>
          </p:cNvPr>
          <p:cNvSpPr/>
          <p:nvPr/>
        </p:nvSpPr>
        <p:spPr>
          <a:xfrm>
            <a:off x="5969000" y="3276600"/>
            <a:ext cx="5461000" cy="584200"/>
          </a:xfrm>
          <a:prstGeom prst="roundRect">
            <a:avLst/>
          </a:prstGeom>
          <a:solidFill>
            <a:srgbClr val="F7FAFB"/>
          </a:solidFill>
          <a:ln w="15875" cap="flat" cmpd="sng" algn="ctr">
            <a:solidFill>
              <a:srgbClr val="6C5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367A4C-DC2C-4B5F-990C-C1CB3312E835}"/>
              </a:ext>
            </a:extLst>
          </p:cNvPr>
          <p:cNvSpPr/>
          <p:nvPr/>
        </p:nvSpPr>
        <p:spPr>
          <a:xfrm>
            <a:off x="5969000" y="3378200"/>
            <a:ext cx="63500" cy="381000"/>
          </a:xfrm>
          <a:prstGeom prst="rect">
            <a:avLst/>
          </a:prstGeom>
          <a:solidFill>
            <a:srgbClr val="6C5C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CE08EC-BF9B-4C9F-89EF-3C9FBB92D356}"/>
              </a:ext>
            </a:extLst>
          </p:cNvPr>
          <p:cNvSpPr txBox="1"/>
          <p:nvPr/>
        </p:nvSpPr>
        <p:spPr>
          <a:xfrm>
            <a:off x="6197600" y="33401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Apache Spark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9BD5B2-4AAB-4245-AD38-E2A234F5B5C7}"/>
              </a:ext>
            </a:extLst>
          </p:cNvPr>
          <p:cNvSpPr txBox="1"/>
          <p:nvPr/>
        </p:nvSpPr>
        <p:spPr>
          <a:xfrm>
            <a:off x="6197600" y="35941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Filtrim, validim dhe agregim në kohë reale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0DA9B58-F6BE-4F53-BA14-65FB2B7653B1}"/>
              </a:ext>
            </a:extLst>
          </p:cNvPr>
          <p:cNvSpPr/>
          <p:nvPr/>
        </p:nvSpPr>
        <p:spPr>
          <a:xfrm rot="10800000">
            <a:off x="8610600" y="3860800"/>
            <a:ext cx="152400" cy="101600"/>
          </a:xfrm>
          <a:prstGeom prst="triangle">
            <a:avLst/>
          </a:prstGeom>
          <a:solidFill>
            <a:srgbClr val="BCCF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9D1357-1DBC-46B1-A74F-740945811D50}"/>
              </a:ext>
            </a:extLst>
          </p:cNvPr>
          <p:cNvSpPr/>
          <p:nvPr/>
        </p:nvSpPr>
        <p:spPr>
          <a:xfrm>
            <a:off x="5969000" y="3962400"/>
            <a:ext cx="5461000" cy="584200"/>
          </a:xfrm>
          <a:prstGeom prst="roundRect">
            <a:avLst/>
          </a:prstGeom>
          <a:solidFill>
            <a:srgbClr val="F7FAFB"/>
          </a:solidFill>
          <a:ln w="15875" cap="flat" cmpd="sng" algn="ctr">
            <a:solidFill>
              <a:srgbClr val="E2574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E79A96-C34E-4B4F-8B4A-F66AD4D61060}"/>
              </a:ext>
            </a:extLst>
          </p:cNvPr>
          <p:cNvSpPr/>
          <p:nvPr/>
        </p:nvSpPr>
        <p:spPr>
          <a:xfrm>
            <a:off x="5969000" y="4064000"/>
            <a:ext cx="63500" cy="381000"/>
          </a:xfrm>
          <a:prstGeom prst="rect">
            <a:avLst/>
          </a:prstGeom>
          <a:solidFill>
            <a:srgbClr val="E257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EA832E-589B-4034-9808-E0CAF57F2EA4}"/>
              </a:ext>
            </a:extLst>
          </p:cNvPr>
          <p:cNvSpPr txBox="1"/>
          <p:nvPr/>
        </p:nvSpPr>
        <p:spPr>
          <a:xfrm>
            <a:off x="6197600" y="40259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Apache Cassandra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1BDFDF-FB15-4A42-80C9-34BDB391BD82}"/>
              </a:ext>
            </a:extLst>
          </p:cNvPr>
          <p:cNvSpPr txBox="1"/>
          <p:nvPr/>
        </p:nvSpPr>
        <p:spPr>
          <a:xfrm>
            <a:off x="6197600" y="42799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Ruajtje time-series (raw + agregime)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6E54E66-D05E-46EE-9D27-78A42BD6E846}"/>
              </a:ext>
            </a:extLst>
          </p:cNvPr>
          <p:cNvSpPr/>
          <p:nvPr/>
        </p:nvSpPr>
        <p:spPr>
          <a:xfrm rot="10800000">
            <a:off x="8610600" y="4546600"/>
            <a:ext cx="152400" cy="101600"/>
          </a:xfrm>
          <a:prstGeom prst="triangle">
            <a:avLst/>
          </a:prstGeom>
          <a:solidFill>
            <a:srgbClr val="BCCF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F8C1A8F-9FCA-49A3-9E3E-B45217B73C68}"/>
              </a:ext>
            </a:extLst>
          </p:cNvPr>
          <p:cNvSpPr/>
          <p:nvPr/>
        </p:nvSpPr>
        <p:spPr>
          <a:xfrm>
            <a:off x="5969000" y="5334000"/>
            <a:ext cx="5461000" cy="584200"/>
          </a:xfrm>
          <a:prstGeom prst="roundRect">
            <a:avLst/>
          </a:prstGeom>
          <a:solidFill>
            <a:srgbClr val="F7FAFB"/>
          </a:solidFill>
          <a:ln w="15875" cap="flat" cmpd="sng" algn="ctr">
            <a:solidFill>
              <a:srgbClr val="2BB6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271D63-43DD-4D9C-BAD8-A681B557CA0F}"/>
              </a:ext>
            </a:extLst>
          </p:cNvPr>
          <p:cNvSpPr/>
          <p:nvPr/>
        </p:nvSpPr>
        <p:spPr>
          <a:xfrm>
            <a:off x="5969000" y="5435600"/>
            <a:ext cx="63500" cy="381000"/>
          </a:xfrm>
          <a:prstGeom prst="rect">
            <a:avLst/>
          </a:prstGeom>
          <a:solidFill>
            <a:srgbClr val="2BB6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9BCD95-657B-4A40-957A-89F8835A4A7C}"/>
              </a:ext>
            </a:extLst>
          </p:cNvPr>
          <p:cNvSpPr txBox="1"/>
          <p:nvPr/>
        </p:nvSpPr>
        <p:spPr>
          <a:xfrm>
            <a:off x="6197600" y="53975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Vue 3 (vue-client)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14FD92-AC9A-4DED-9686-256386F77B1C}"/>
              </a:ext>
            </a:extLst>
          </p:cNvPr>
          <p:cNvSpPr txBox="1"/>
          <p:nvPr/>
        </p:nvSpPr>
        <p:spPr>
          <a:xfrm>
            <a:off x="6197600" y="5651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Vizualizim live — Pinia + ApexCharts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DA6B2C-30F6-40DC-9762-0470501E3E44}"/>
              </a:ext>
            </a:extLst>
          </p:cNvPr>
          <p:cNvSpPr txBox="1"/>
          <p:nvPr/>
        </p:nvSpPr>
        <p:spPr>
          <a:xfrm>
            <a:off x="5969000" y="61468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 i="1">
                <a:solidFill>
                  <a:srgbClr val="5A6B78"/>
                </a:solidFill>
                <a:latin typeface="Segoe UI"/>
                <a:cs typeface="Segoe UI"/>
              </a:rPr>
              <a:t>I gjithë sistemi orkestrohet përmes Docker Compose.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14946E5-1E44-B1F4-C0F8-79C72EF8A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006600"/>
            <a:ext cx="5054600" cy="3369733"/>
          </a:xfrm>
          <a:prstGeom prst="rect">
            <a:avLst/>
          </a:prstGeom>
        </p:spPr>
      </p:pic>
      <p:sp>
        <p:nvSpPr>
          <p:cNvPr id="3" name="Card VueApi">
            <a:extLst>
              <a:ext uri="{FF2B5EF4-FFF2-40B4-BE49-F238E27FC236}">
                <a16:creationId xmlns:a16="http://schemas.microsoft.com/office/drawing/2014/main" id="{8F925386-B6F0-4B32-9355-8139CEEB4757}"/>
              </a:ext>
            </a:extLst>
          </p:cNvPr>
          <p:cNvSpPr/>
          <p:nvPr/>
        </p:nvSpPr>
        <p:spPr>
          <a:xfrm>
            <a:off x="5969000" y="4648200"/>
            <a:ext cx="5461000" cy="584200"/>
          </a:xfrm>
          <a:prstGeom prst="roundRect">
            <a:avLst/>
          </a:prstGeom>
          <a:solidFill>
            <a:srgbClr val="F7FAFB"/>
          </a:solidFill>
          <a:ln w="15875" cap="flat" cmpd="sng" algn="ctr">
            <a:solidFill>
              <a:srgbClr val="F4A1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7118BD-4A83-4483-BA58-C1BE63D61DB9}"/>
              </a:ext>
            </a:extLst>
          </p:cNvPr>
          <p:cNvSpPr/>
          <p:nvPr/>
        </p:nvSpPr>
        <p:spPr>
          <a:xfrm>
            <a:off x="5969000" y="4749800"/>
            <a:ext cx="63500" cy="381000"/>
          </a:xfrm>
          <a:prstGeom prst="rect">
            <a:avLst/>
          </a:prstGeom>
          <a:solidFill>
            <a:srgbClr val="F4A1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3BA773-DC36-4D6A-93F8-D7BE04E54CBD}"/>
              </a:ext>
            </a:extLst>
          </p:cNvPr>
          <p:cNvSpPr txBox="1"/>
          <p:nvPr/>
        </p:nvSpPr>
        <p:spPr>
          <a:xfrm>
            <a:off x="6197600" y="47117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fr-FR" sz="1500" b="1">
                <a:solidFill>
                  <a:srgbClr val="0F2A43"/>
                </a:solidFill>
                <a:latin typeface="Montserrat"/>
              </a:rPr>
              <a:t>Vue.Api (ASP.NET Core 8)</a:t>
            </a:r>
            <a:endParaRPr lang="sq-AL" sz="1500" b="1">
              <a:solidFill>
                <a:srgbClr val="0F2A43"/>
              </a:solidFill>
              <a:latin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EF26A6-FB61-4DC4-9A21-E6AF1A83827C}"/>
              </a:ext>
            </a:extLst>
          </p:cNvPr>
          <p:cNvSpPr txBox="1"/>
          <p:nvPr/>
        </p:nvSpPr>
        <p:spPr>
          <a:xfrm>
            <a:off x="6197600" y="4965700"/>
            <a:ext cx="5080000" cy="228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REST API + hub SignalR — ura te ndërfaqja</a:t>
            </a:r>
          </a:p>
        </p:txBody>
      </p:sp>
      <p:sp>
        <p:nvSpPr>
          <p:cNvPr id="36" name="Card VueApi">
            <a:extLst>
              <a:ext uri="{FF2B5EF4-FFF2-40B4-BE49-F238E27FC236}">
                <a16:creationId xmlns:a16="http://schemas.microsoft.com/office/drawing/2014/main" id="{59BEE681-1244-46AC-A0D4-CA6173D80E80}"/>
              </a:ext>
            </a:extLst>
          </p:cNvPr>
          <p:cNvSpPr/>
          <p:nvPr/>
        </p:nvSpPr>
        <p:spPr>
          <a:xfrm>
            <a:off x="5969000" y="4648200"/>
            <a:ext cx="5461000" cy="584200"/>
          </a:xfrm>
          <a:prstGeom prst="roundRect">
            <a:avLst/>
          </a:prstGeom>
          <a:solidFill>
            <a:srgbClr val="F7FAFB"/>
          </a:solidFill>
          <a:ln w="15875" cap="flat" cmpd="sng" algn="ctr">
            <a:solidFill>
              <a:srgbClr val="F4A1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3DDD98-A22F-470C-9AB3-F7D4227F29B1}"/>
              </a:ext>
            </a:extLst>
          </p:cNvPr>
          <p:cNvSpPr/>
          <p:nvPr/>
        </p:nvSpPr>
        <p:spPr>
          <a:xfrm>
            <a:off x="5969000" y="4749800"/>
            <a:ext cx="63500" cy="381000"/>
          </a:xfrm>
          <a:prstGeom prst="rect">
            <a:avLst/>
          </a:prstGeom>
          <a:solidFill>
            <a:srgbClr val="F4A1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FBBA48-D5FB-4FA2-A225-A714938059D2}"/>
              </a:ext>
            </a:extLst>
          </p:cNvPr>
          <p:cNvSpPr txBox="1"/>
          <p:nvPr/>
        </p:nvSpPr>
        <p:spPr>
          <a:xfrm>
            <a:off x="6197600" y="47117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fr-FR" sz="1500" b="1">
                <a:solidFill>
                  <a:srgbClr val="0F2A43"/>
                </a:solidFill>
                <a:latin typeface="Montserrat"/>
              </a:rPr>
              <a:t>Vue.Api (ASP.NET Core 8)</a:t>
            </a:r>
            <a:endParaRPr lang="sq-AL" sz="1500" b="1">
              <a:solidFill>
                <a:srgbClr val="0F2A43"/>
              </a:solidFill>
              <a:latin typeface="Montserra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A6E740-38AD-45CC-9968-7DEA358D8B2C}"/>
              </a:ext>
            </a:extLst>
          </p:cNvPr>
          <p:cNvSpPr txBox="1"/>
          <p:nvPr/>
        </p:nvSpPr>
        <p:spPr>
          <a:xfrm>
            <a:off x="6197600" y="4965700"/>
            <a:ext cx="5080000" cy="228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REST API + hub SignalR — ura te ndërfaqja</a:t>
            </a: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52E3175-BA47-4AEB-A438-BB92E9D7F8FA}"/>
              </a:ext>
            </a:extLst>
          </p:cNvPr>
          <p:cNvSpPr/>
          <p:nvPr/>
        </p:nvSpPr>
        <p:spPr>
          <a:xfrm rot="10800000">
            <a:off x="8610600" y="5232400"/>
            <a:ext cx="152400" cy="101600"/>
          </a:xfrm>
          <a:prstGeom prst="triangle">
            <a:avLst/>
          </a:prstGeom>
          <a:solidFill>
            <a:srgbClr val="BCCF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68231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E78A-141F-DB53-7B7D-CC98C0D0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Modulet kryesore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5E2980-2D92-403B-8E14-0B879DD9335C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36D2F2-002A-42DF-95C1-0603B95B3C35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256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59800821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82101852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143702165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sq-AL" sz="1500" b="1">
                          <a:solidFill>
                            <a:srgbClr val="FFFFFF"/>
                          </a:solidFill>
                          <a:latin typeface="Montserrat"/>
                        </a:rPr>
                        <a:t>Moduli</a:t>
                      </a:r>
                    </a:p>
                  </a:txBody>
                  <a:tcPr anchor="ctr">
                    <a:solidFill>
                      <a:srgbClr val="0E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500" b="1">
                          <a:solidFill>
                            <a:srgbClr val="FFFFFF"/>
                          </a:solidFill>
                          <a:latin typeface="Montserrat"/>
                        </a:rPr>
                        <a:t>Teknologjia</a:t>
                      </a:r>
                    </a:p>
                  </a:txBody>
                  <a:tcPr anchor="ctr">
                    <a:solidFill>
                      <a:srgbClr val="0E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500" b="1">
                          <a:solidFill>
                            <a:srgbClr val="FFFFFF"/>
                          </a:solidFill>
                          <a:latin typeface="Montserrat"/>
                        </a:rPr>
                        <a:t>Roli</a:t>
                      </a:r>
                    </a:p>
                  </a:txBody>
                  <a:tcPr anchor="ctr">
                    <a:solidFill>
                      <a:srgbClr val="0E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6791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  <a:latin typeface="Segoe UI"/>
                          <a:cs typeface="Segoe UI"/>
                        </a:rPr>
                        <a:t>Simulator.App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.NET 8 Worker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Gjeneron parametra vitalë realistë dhe i publikon në Kafka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4128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  <a:latin typeface="Segoe UI"/>
                          <a:cs typeface="Segoe UI"/>
                        </a:rPr>
                        <a:t>Streaming.App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Apache Spark 3.2 + .NET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Konsumon Kafka, filtron, agregon, alarmon dhe ruan në Cassandra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60067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  <a:latin typeface="Segoe UI"/>
                          <a:cs typeface="Segoe UI"/>
                        </a:rPr>
                        <a:t>Vue.Api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ASP.NET Core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Lexon nga Cassandra, ekspozon REST API dhe hub-in SignalR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37262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  <a:latin typeface="Segoe UI"/>
                          <a:cs typeface="Segoe UI"/>
                        </a:rPr>
                        <a:t>vue-client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Vue 3, Vite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Ndërfaqja e vizualizimit me monitorim live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5500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  <a:latin typeface="Segoe UI"/>
                          <a:cs typeface="Segoe UI"/>
                        </a:rPr>
                        <a:t>AI.Training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ML.NET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Trajnimi offline i modelit parashikues të infarktit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75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07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2E4D-3907-601C-D852-2A1E4903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3400" dirty="0"/>
              <a:t>Apache Kafka — shtresa e transmetimit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46768D-F053-4719-B21E-CC016828D807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EF324-CE14-4185-B8B9-F3B2DAAFCE76}"/>
              </a:ext>
            </a:extLst>
          </p:cNvPr>
          <p:cNvSpPr txBox="1"/>
          <p:nvPr/>
        </p:nvSpPr>
        <p:spPr>
          <a:xfrm>
            <a:off x="762000" y="1574800"/>
            <a:ext cx="5270500" cy="1143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>
                <a:solidFill>
                  <a:srgbClr val="21384A"/>
                </a:solidFill>
                <a:latin typeface="Segoe UI"/>
                <a:cs typeface="Segoe UI"/>
              </a:rPr>
              <a:t>Apache Kafka shërben si shtresa qendrore e transmetimit. Të dhënat dërgohen te topic-u health-vitals me 3 ndarje (partitions) për përpunim paralel.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B25B9-FDA7-47DA-BDE1-EC439E5509D3}"/>
              </a:ext>
            </a:extLst>
          </p:cNvPr>
          <p:cNvSpPr txBox="1"/>
          <p:nvPr/>
        </p:nvSpPr>
        <p:spPr>
          <a:xfrm>
            <a:off x="762000" y="2743200"/>
            <a:ext cx="52705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EA5A5"/>
                </a:solidFill>
                <a:latin typeface="Montserrat"/>
              </a:rPr>
              <a:t>Komponentët kryesorë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470194-C09C-4851-A27A-FA31DA435391}"/>
              </a:ext>
            </a:extLst>
          </p:cNvPr>
          <p:cNvSpPr/>
          <p:nvPr/>
        </p:nvSpPr>
        <p:spPr>
          <a:xfrm>
            <a:off x="762000" y="3124200"/>
            <a:ext cx="5270500" cy="635000"/>
          </a:xfrm>
          <a:prstGeom prst="roundRect">
            <a:avLst/>
          </a:prstGeom>
          <a:solidFill>
            <a:srgbClr val="F7FAFB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F509F6-25BB-4BF3-801A-B6C46B65DFB6}"/>
              </a:ext>
            </a:extLst>
          </p:cNvPr>
          <p:cNvSpPr/>
          <p:nvPr/>
        </p:nvSpPr>
        <p:spPr>
          <a:xfrm>
            <a:off x="889000" y="3276600"/>
            <a:ext cx="1219200" cy="330200"/>
          </a:xfrm>
          <a:prstGeom prst="roundRect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sz="1200" b="1">
                <a:solidFill>
                  <a:srgbClr val="FFFFFF"/>
                </a:solidFill>
                <a:latin typeface="Montserrat"/>
              </a:rPr>
              <a:t>Producer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8D614F-DB71-44CA-98C1-9137A117E029}"/>
              </a:ext>
            </a:extLst>
          </p:cNvPr>
          <p:cNvSpPr txBox="1"/>
          <p:nvPr/>
        </p:nvSpPr>
        <p:spPr>
          <a:xfrm>
            <a:off x="2260600" y="3225800"/>
            <a:ext cx="3657600" cy="4572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ctr" anchorCtr="0">
            <a:spAutoFit/>
          </a:bodyPr>
          <a:lstStyle/>
          <a:p>
            <a:pPr algn="l"/>
            <a:r>
              <a:rPr lang="en-US" sz="1250">
                <a:solidFill>
                  <a:srgbClr val="21384A"/>
                </a:solidFill>
                <a:latin typeface="Segoe UI"/>
                <a:cs typeface="Segoe UI"/>
              </a:rPr>
              <a:t>Simulator.App publikon leximet te health-vitals</a:t>
            </a:r>
            <a:endParaRPr lang="sq-AL" sz="1250">
              <a:solidFill>
                <a:srgbClr val="21384A"/>
              </a:solidFill>
              <a:latin typeface="Segoe UI"/>
              <a:cs typeface="Segoe U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98BE47-DEE6-4901-8692-84C9F29D13BC}"/>
              </a:ext>
            </a:extLst>
          </p:cNvPr>
          <p:cNvSpPr/>
          <p:nvPr/>
        </p:nvSpPr>
        <p:spPr>
          <a:xfrm>
            <a:off x="762000" y="3860800"/>
            <a:ext cx="5270500" cy="635000"/>
          </a:xfrm>
          <a:prstGeom prst="roundRect">
            <a:avLst/>
          </a:prstGeom>
          <a:solidFill>
            <a:srgbClr val="F7FAFB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E6F05B-3FF9-416B-8EDD-B528262355F9}"/>
              </a:ext>
            </a:extLst>
          </p:cNvPr>
          <p:cNvSpPr/>
          <p:nvPr/>
        </p:nvSpPr>
        <p:spPr>
          <a:xfrm>
            <a:off x="889000" y="4013200"/>
            <a:ext cx="1219200" cy="330200"/>
          </a:xfrm>
          <a:prstGeom prst="roundRect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sz="1200" b="1">
                <a:solidFill>
                  <a:srgbClr val="FFFFFF"/>
                </a:solidFill>
                <a:latin typeface="Montserrat"/>
              </a:rPr>
              <a:t>Consumer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8A6FA-2F45-42E8-8AA1-2982B12AF949}"/>
              </a:ext>
            </a:extLst>
          </p:cNvPr>
          <p:cNvSpPr txBox="1"/>
          <p:nvPr/>
        </p:nvSpPr>
        <p:spPr>
          <a:xfrm>
            <a:off x="2260600" y="3962400"/>
            <a:ext cx="3657600" cy="4572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ctr" anchorCtr="0">
            <a:spAutoFit/>
          </a:bodyPr>
          <a:lstStyle/>
          <a:p>
            <a:pPr algn="l"/>
            <a:r>
              <a:rPr lang="sq-AL" sz="1250">
                <a:solidFill>
                  <a:srgbClr val="21384A"/>
                </a:solidFill>
                <a:latin typeface="Segoe UI"/>
                <a:cs typeface="Segoe UI"/>
              </a:rPr>
              <a:t>Streaming.App lexon rrjedhën për përpunim me Spark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75E034-28E1-4C69-AC71-70B7E3415C30}"/>
              </a:ext>
            </a:extLst>
          </p:cNvPr>
          <p:cNvSpPr/>
          <p:nvPr/>
        </p:nvSpPr>
        <p:spPr>
          <a:xfrm>
            <a:off x="762000" y="4597400"/>
            <a:ext cx="5270500" cy="635000"/>
          </a:xfrm>
          <a:prstGeom prst="roundRect">
            <a:avLst/>
          </a:prstGeom>
          <a:solidFill>
            <a:srgbClr val="F7FAFB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A9032F-2F10-42C9-B6BC-F9DB171B6481}"/>
              </a:ext>
            </a:extLst>
          </p:cNvPr>
          <p:cNvSpPr/>
          <p:nvPr/>
        </p:nvSpPr>
        <p:spPr>
          <a:xfrm>
            <a:off x="889000" y="4749800"/>
            <a:ext cx="1219200" cy="330200"/>
          </a:xfrm>
          <a:prstGeom prst="roundRect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sz="1200" b="1">
                <a:solidFill>
                  <a:srgbClr val="FFFFFF"/>
                </a:solidFill>
                <a:latin typeface="Montserrat"/>
              </a:rPr>
              <a:t>Topic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1BDEC-722C-4273-8FED-13C0831BD62A}"/>
              </a:ext>
            </a:extLst>
          </p:cNvPr>
          <p:cNvSpPr txBox="1"/>
          <p:nvPr/>
        </p:nvSpPr>
        <p:spPr>
          <a:xfrm>
            <a:off x="2260600" y="4699000"/>
            <a:ext cx="3657600" cy="4572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ctr" anchorCtr="0">
            <a:spAutoFit/>
          </a:bodyPr>
          <a:lstStyle/>
          <a:p>
            <a:pPr algn="l"/>
            <a:r>
              <a:rPr lang="sq-AL" sz="1250">
                <a:solidFill>
                  <a:srgbClr val="21384A"/>
                </a:solidFill>
                <a:latin typeface="Segoe UI"/>
                <a:cs typeface="Segoe UI"/>
              </a:rPr>
              <a:t>health-vitals — 3 ndarje, çelës patientId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39288-37EA-4190-B573-FD26AA09D503}"/>
              </a:ext>
            </a:extLst>
          </p:cNvPr>
          <p:cNvSpPr txBox="1"/>
          <p:nvPr/>
        </p:nvSpPr>
        <p:spPr>
          <a:xfrm>
            <a:off x="762000" y="5359400"/>
            <a:ext cx="5270500" cy="406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250" i="1">
                <a:solidFill>
                  <a:srgbClr val="5A6B78"/>
                </a:solidFill>
                <a:latin typeface="Segoe UI"/>
                <a:cs typeface="Segoe UI"/>
              </a:rPr>
              <a:t>Çdo mesazh serializohet në JSON: patientId, dhoma dhe vlerat vitale.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967007-A155-41D4-8685-95514CF779F2}"/>
              </a:ext>
            </a:extLst>
          </p:cNvPr>
          <p:cNvSpPr txBox="1"/>
          <p:nvPr/>
        </p:nvSpPr>
        <p:spPr>
          <a:xfrm>
            <a:off x="6350000" y="15748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b="1">
                <a:solidFill>
                  <a:srgbClr val="0F2A43"/>
                </a:solidFill>
                <a:latin typeface="Montserrat"/>
              </a:rPr>
              <a:t>Pse Apache Kafka?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BE5697-BEFD-4966-94E4-A1DE765A8597}"/>
              </a:ext>
            </a:extLst>
          </p:cNvPr>
          <p:cNvSpPr/>
          <p:nvPr/>
        </p:nvSpPr>
        <p:spPr>
          <a:xfrm>
            <a:off x="6350000" y="2057400"/>
            <a:ext cx="5080000" cy="838200"/>
          </a:xfrm>
          <a:prstGeom prst="roundRect">
            <a:avLst/>
          </a:prstGeom>
          <a:solidFill>
            <a:srgbClr val="F7FAFB"/>
          </a:solidFill>
          <a:ln w="12700" cap="flat" cmpd="sng" algn="ctr">
            <a:solidFill>
              <a:srgbClr val="E2EA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05902C-66F9-4C93-BEB7-59535F9DF569}"/>
              </a:ext>
            </a:extLst>
          </p:cNvPr>
          <p:cNvSpPr/>
          <p:nvPr/>
        </p:nvSpPr>
        <p:spPr>
          <a:xfrm>
            <a:off x="6350000" y="2184400"/>
            <a:ext cx="63500" cy="5842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E35E99-0237-4E52-8E0F-541E5EE70113}"/>
              </a:ext>
            </a:extLst>
          </p:cNvPr>
          <p:cNvSpPr txBox="1"/>
          <p:nvPr/>
        </p:nvSpPr>
        <p:spPr>
          <a:xfrm>
            <a:off x="6578600" y="21717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Decoupling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A707EC-4409-489E-B2B1-FCC57A0731B7}"/>
              </a:ext>
            </a:extLst>
          </p:cNvPr>
          <p:cNvSpPr txBox="1"/>
          <p:nvPr/>
        </p:nvSpPr>
        <p:spPr>
          <a:xfrm>
            <a:off x="6578600" y="2451100"/>
            <a:ext cx="4724400" cy="381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Simulatori dhe përpunuesi nuk varen nga njëri-tjetri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02E84C-4769-41A0-8F2D-2753FBD2BA5C}"/>
              </a:ext>
            </a:extLst>
          </p:cNvPr>
          <p:cNvSpPr/>
          <p:nvPr/>
        </p:nvSpPr>
        <p:spPr>
          <a:xfrm>
            <a:off x="6350000" y="2997200"/>
            <a:ext cx="5080000" cy="838200"/>
          </a:xfrm>
          <a:prstGeom prst="roundRect">
            <a:avLst/>
          </a:prstGeom>
          <a:solidFill>
            <a:srgbClr val="F7FAFB"/>
          </a:solidFill>
          <a:ln w="12700" cap="flat" cmpd="sng" algn="ctr">
            <a:solidFill>
              <a:srgbClr val="E2EA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BD3796-DA23-4382-BD2B-78BD8C730BED}"/>
              </a:ext>
            </a:extLst>
          </p:cNvPr>
          <p:cNvSpPr/>
          <p:nvPr/>
        </p:nvSpPr>
        <p:spPr>
          <a:xfrm>
            <a:off x="6350000" y="3124200"/>
            <a:ext cx="63500" cy="584200"/>
          </a:xfrm>
          <a:prstGeom prst="rect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1C850B-5A2D-4C01-9C8E-BD3C234E9430}"/>
              </a:ext>
            </a:extLst>
          </p:cNvPr>
          <p:cNvSpPr txBox="1"/>
          <p:nvPr/>
        </p:nvSpPr>
        <p:spPr>
          <a:xfrm>
            <a:off x="6578600" y="31115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Buffering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A679E6-A68D-4C66-AAC6-B64F066FCE90}"/>
              </a:ext>
            </a:extLst>
          </p:cNvPr>
          <p:cNvSpPr txBox="1"/>
          <p:nvPr/>
        </p:nvSpPr>
        <p:spPr>
          <a:xfrm>
            <a:off x="6578600" y="3390900"/>
            <a:ext cx="4724400" cy="381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Të dhënat ruhen përkohësisht edhe nëse përpunimi ndalon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37CE50D-982E-4F67-AF5A-CF6159B810F5}"/>
              </a:ext>
            </a:extLst>
          </p:cNvPr>
          <p:cNvSpPr/>
          <p:nvPr/>
        </p:nvSpPr>
        <p:spPr>
          <a:xfrm>
            <a:off x="6350000" y="3937000"/>
            <a:ext cx="5080000" cy="838200"/>
          </a:xfrm>
          <a:prstGeom prst="roundRect">
            <a:avLst/>
          </a:prstGeom>
          <a:solidFill>
            <a:srgbClr val="F7FAFB"/>
          </a:solidFill>
          <a:ln w="12700" cap="flat" cmpd="sng" algn="ctr">
            <a:solidFill>
              <a:srgbClr val="E2EA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B317C0-7053-4D81-9D5A-2792DF337D60}"/>
              </a:ext>
            </a:extLst>
          </p:cNvPr>
          <p:cNvSpPr/>
          <p:nvPr/>
        </p:nvSpPr>
        <p:spPr>
          <a:xfrm>
            <a:off x="6350000" y="4064000"/>
            <a:ext cx="63500" cy="584200"/>
          </a:xfrm>
          <a:prstGeom prst="rect">
            <a:avLst/>
          </a:prstGeom>
          <a:solidFill>
            <a:srgbClr val="6C5C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8ED7DF-13B7-4D60-ACC3-F510759ADB6B}"/>
              </a:ext>
            </a:extLst>
          </p:cNvPr>
          <p:cNvSpPr txBox="1"/>
          <p:nvPr/>
        </p:nvSpPr>
        <p:spPr>
          <a:xfrm>
            <a:off x="6578600" y="40513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Skalabilitet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A01784-D43F-4781-BB97-8A23FC683033}"/>
              </a:ext>
            </a:extLst>
          </p:cNvPr>
          <p:cNvSpPr txBox="1"/>
          <p:nvPr/>
        </p:nvSpPr>
        <p:spPr>
          <a:xfrm>
            <a:off x="6578600" y="4330700"/>
            <a:ext cx="4724400" cy="381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Ndarjet mundësojnë përpunim paralel dhe rritje ngarkese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33AE15F-EF3D-49DA-8BE6-B3AD1CBBC562}"/>
              </a:ext>
            </a:extLst>
          </p:cNvPr>
          <p:cNvSpPr/>
          <p:nvPr/>
        </p:nvSpPr>
        <p:spPr>
          <a:xfrm>
            <a:off x="6350000" y="4876800"/>
            <a:ext cx="5080000" cy="838200"/>
          </a:xfrm>
          <a:prstGeom prst="roundRect">
            <a:avLst/>
          </a:prstGeom>
          <a:solidFill>
            <a:srgbClr val="F7FAFB"/>
          </a:solidFill>
          <a:ln w="12700" cap="flat" cmpd="sng" algn="ctr">
            <a:solidFill>
              <a:srgbClr val="E2EA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52ED2F-4015-4C51-B3BF-4AE2994D229F}"/>
              </a:ext>
            </a:extLst>
          </p:cNvPr>
          <p:cNvSpPr/>
          <p:nvPr/>
        </p:nvSpPr>
        <p:spPr>
          <a:xfrm>
            <a:off x="6350000" y="5003800"/>
            <a:ext cx="63500" cy="584200"/>
          </a:xfrm>
          <a:prstGeom prst="rect">
            <a:avLst/>
          </a:prstGeom>
          <a:solidFill>
            <a:srgbClr val="2BB6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E57A16-7AD3-42B6-A8B9-34FC85926111}"/>
              </a:ext>
            </a:extLst>
          </p:cNvPr>
          <p:cNvSpPr txBox="1"/>
          <p:nvPr/>
        </p:nvSpPr>
        <p:spPr>
          <a:xfrm>
            <a:off x="6578600" y="49911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  <a:latin typeface="Montserrat"/>
              </a:rPr>
              <a:t>Përpunim në kohë reale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6D01B0-44C2-42DC-B849-A62E54BAC6E7}"/>
              </a:ext>
            </a:extLst>
          </p:cNvPr>
          <p:cNvSpPr txBox="1"/>
          <p:nvPr/>
        </p:nvSpPr>
        <p:spPr>
          <a:xfrm>
            <a:off x="6578600" y="5270500"/>
            <a:ext cx="4724400" cy="381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5A6B78"/>
                </a:solidFill>
                <a:latin typeface="Segoe UI"/>
                <a:cs typeface="Segoe UI"/>
              </a:rPr>
              <a:t>Rrjedhë e vazhdueshme mesazhesh, tipike për IoT</a:t>
            </a:r>
          </a:p>
        </p:txBody>
      </p:sp>
    </p:spTree>
    <p:extLst>
      <p:ext uri="{BB962C8B-B14F-4D97-AF65-F5344CB8AC3E}">
        <p14:creationId xmlns:p14="http://schemas.microsoft.com/office/powerpoint/2010/main" val="4219005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FC88-03A9-3710-FFFA-A32D8DC2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3400" dirty="0"/>
              <a:t>Procesimi me Apache Spark Streaming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61519-C7BA-4492-94CB-FDDCEBE35855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8C7025-302E-4F72-87D9-F9FEAFD63E88}"/>
              </a:ext>
            </a:extLst>
          </p:cNvPr>
          <p:cNvSpPr/>
          <p:nvPr/>
        </p:nvSpPr>
        <p:spPr>
          <a:xfrm>
            <a:off x="762000" y="17526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ABC8A-5B91-424F-A6D5-EAE5DF620F37}"/>
              </a:ext>
            </a:extLst>
          </p:cNvPr>
          <p:cNvSpPr txBox="1"/>
          <p:nvPr/>
        </p:nvSpPr>
        <p:spPr>
          <a:xfrm>
            <a:off x="1498600" y="1727200"/>
            <a:ext cx="59944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0F2A43"/>
                </a:solidFill>
                <a:latin typeface="Montserrat"/>
              </a:rPr>
              <a:t>Leximi i rrjedhës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BDEA0-9FF9-4809-A3C4-90EB8F7FDFFC}"/>
              </a:ext>
            </a:extLst>
          </p:cNvPr>
          <p:cNvSpPr txBox="1"/>
          <p:nvPr/>
        </p:nvSpPr>
        <p:spPr>
          <a:xfrm>
            <a:off x="1498600" y="2044700"/>
            <a:ext cx="59944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50">
                <a:solidFill>
                  <a:srgbClr val="5A6B78"/>
                </a:solidFill>
                <a:latin typeface="Segoe UI"/>
                <a:cs typeface="Segoe UI"/>
              </a:rPr>
              <a:t>Lexim nga Kafka përmes ReadStream të Spark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EBC925-D691-4033-8FD4-CA55D9A22470}"/>
              </a:ext>
            </a:extLst>
          </p:cNvPr>
          <p:cNvSpPr/>
          <p:nvPr/>
        </p:nvSpPr>
        <p:spPr>
          <a:xfrm>
            <a:off x="1016000" y="2311400"/>
            <a:ext cx="38100" cy="228600"/>
          </a:xfrm>
          <a:prstGeom prst="rect">
            <a:avLst/>
          </a:prstGeom>
          <a:solidFill>
            <a:srgbClr val="CFE2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226F29-7ABD-42AE-A91F-309954668208}"/>
              </a:ext>
            </a:extLst>
          </p:cNvPr>
          <p:cNvSpPr/>
          <p:nvPr/>
        </p:nvSpPr>
        <p:spPr>
          <a:xfrm>
            <a:off x="762000" y="26670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8C4E2-DB56-47E2-B37C-B605ECD6E25F}"/>
              </a:ext>
            </a:extLst>
          </p:cNvPr>
          <p:cNvSpPr txBox="1"/>
          <p:nvPr/>
        </p:nvSpPr>
        <p:spPr>
          <a:xfrm>
            <a:off x="1498600" y="2641600"/>
            <a:ext cx="59944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0F2A43"/>
                </a:solidFill>
                <a:latin typeface="Montserrat"/>
              </a:rPr>
              <a:t>Filtrimi &amp; validimi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AA2CD-19CD-4E0A-9BB6-537358E63CE5}"/>
              </a:ext>
            </a:extLst>
          </p:cNvPr>
          <p:cNvSpPr txBox="1"/>
          <p:nvPr/>
        </p:nvSpPr>
        <p:spPr>
          <a:xfrm>
            <a:off x="1498600" y="2959100"/>
            <a:ext cx="59944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50">
                <a:solidFill>
                  <a:srgbClr val="5A6B78"/>
                </a:solidFill>
                <a:latin typeface="Segoe UI"/>
                <a:cs typeface="Segoe UI"/>
              </a:rPr>
              <a:t>Hidhen leximet e pavlefshme (p.sh. puls jashtë 0–260)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AD781B-ED96-4422-8D3B-836D1B475532}"/>
              </a:ext>
            </a:extLst>
          </p:cNvPr>
          <p:cNvSpPr/>
          <p:nvPr/>
        </p:nvSpPr>
        <p:spPr>
          <a:xfrm>
            <a:off x="1016000" y="3225800"/>
            <a:ext cx="38100" cy="228600"/>
          </a:xfrm>
          <a:prstGeom prst="rect">
            <a:avLst/>
          </a:prstGeom>
          <a:solidFill>
            <a:srgbClr val="CFE2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30C144-F218-437F-889E-BD5354E0814D}"/>
              </a:ext>
            </a:extLst>
          </p:cNvPr>
          <p:cNvSpPr/>
          <p:nvPr/>
        </p:nvSpPr>
        <p:spPr>
          <a:xfrm>
            <a:off x="762000" y="35814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49052-E8AB-4948-AE5B-A9C85BC5C4D9}"/>
              </a:ext>
            </a:extLst>
          </p:cNvPr>
          <p:cNvSpPr txBox="1"/>
          <p:nvPr/>
        </p:nvSpPr>
        <p:spPr>
          <a:xfrm>
            <a:off x="1498600" y="3556000"/>
            <a:ext cx="59944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0F2A43"/>
                </a:solidFill>
                <a:latin typeface="Montserrat"/>
              </a:rPr>
              <a:t>Agregimi në dritare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848DD-7357-44AA-80D3-5414F7F71870}"/>
              </a:ext>
            </a:extLst>
          </p:cNvPr>
          <p:cNvSpPr txBox="1"/>
          <p:nvPr/>
        </p:nvSpPr>
        <p:spPr>
          <a:xfrm>
            <a:off x="1498600" y="3873500"/>
            <a:ext cx="59944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50">
                <a:solidFill>
                  <a:srgbClr val="5A6B78"/>
                </a:solidFill>
                <a:latin typeface="Segoe UI"/>
                <a:cs typeface="Segoe UI"/>
              </a:rPr>
              <a:t>Dritare rrëshqitëse 5-min, hap 1-min, me watermark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F57E05-B3AC-410C-AA78-19420B6FF086}"/>
              </a:ext>
            </a:extLst>
          </p:cNvPr>
          <p:cNvSpPr/>
          <p:nvPr/>
        </p:nvSpPr>
        <p:spPr>
          <a:xfrm>
            <a:off x="1016000" y="4140200"/>
            <a:ext cx="38100" cy="228600"/>
          </a:xfrm>
          <a:prstGeom prst="rect">
            <a:avLst/>
          </a:prstGeom>
          <a:solidFill>
            <a:srgbClr val="CFE2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32E1F9-70BC-489A-AE98-FB4CE9674C18}"/>
              </a:ext>
            </a:extLst>
          </p:cNvPr>
          <p:cNvSpPr/>
          <p:nvPr/>
        </p:nvSpPr>
        <p:spPr>
          <a:xfrm>
            <a:off x="762000" y="44958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2A744-FCAC-42CB-A94F-718FF733737E}"/>
              </a:ext>
            </a:extLst>
          </p:cNvPr>
          <p:cNvSpPr txBox="1"/>
          <p:nvPr/>
        </p:nvSpPr>
        <p:spPr>
          <a:xfrm>
            <a:off x="1498600" y="4470400"/>
            <a:ext cx="59944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0F2A43"/>
                </a:solidFill>
                <a:latin typeface="Montserrat"/>
              </a:rPr>
              <a:t>Ruajtja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B45D16-32B1-4C9B-B2EA-1B7504A481C6}"/>
              </a:ext>
            </a:extLst>
          </p:cNvPr>
          <p:cNvSpPr txBox="1"/>
          <p:nvPr/>
        </p:nvSpPr>
        <p:spPr>
          <a:xfrm>
            <a:off x="1498600" y="4787900"/>
            <a:ext cx="59944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50">
                <a:solidFill>
                  <a:srgbClr val="5A6B78"/>
                </a:solidFill>
                <a:latin typeface="Segoe UI"/>
                <a:cs typeface="Segoe UI"/>
              </a:rPr>
              <a:t>Leximet raw dhe mesataret ruhen në Cassandra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7EE6EE-43AC-4BAA-B76D-63538B0F8646}"/>
              </a:ext>
            </a:extLst>
          </p:cNvPr>
          <p:cNvSpPr/>
          <p:nvPr/>
        </p:nvSpPr>
        <p:spPr>
          <a:xfrm>
            <a:off x="1016000" y="5054600"/>
            <a:ext cx="38100" cy="228600"/>
          </a:xfrm>
          <a:prstGeom prst="rect">
            <a:avLst/>
          </a:prstGeom>
          <a:solidFill>
            <a:srgbClr val="CFE2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C28C91-BE44-4138-9E65-7C98A26EE397}"/>
              </a:ext>
            </a:extLst>
          </p:cNvPr>
          <p:cNvSpPr/>
          <p:nvPr/>
        </p:nvSpPr>
        <p:spPr>
          <a:xfrm>
            <a:off x="762000" y="5410200"/>
            <a:ext cx="558800" cy="5588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7B268A-3FD7-43E8-92DF-A8FC286A5D4C}"/>
              </a:ext>
            </a:extLst>
          </p:cNvPr>
          <p:cNvSpPr txBox="1"/>
          <p:nvPr/>
        </p:nvSpPr>
        <p:spPr>
          <a:xfrm>
            <a:off x="1498600" y="5384800"/>
            <a:ext cx="59944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0F2A43"/>
                </a:solidFill>
                <a:latin typeface="Montserrat"/>
              </a:rPr>
              <a:t>Njoftim &amp; alarme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637925-F68D-46D5-AC1F-0B834BC1B5E7}"/>
              </a:ext>
            </a:extLst>
          </p:cNvPr>
          <p:cNvSpPr txBox="1"/>
          <p:nvPr/>
        </p:nvSpPr>
        <p:spPr>
          <a:xfrm>
            <a:off x="1498600" y="5702300"/>
            <a:ext cx="5994400" cy="355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50">
                <a:solidFill>
                  <a:srgbClr val="5A6B78"/>
                </a:solidFill>
                <a:latin typeface="Segoe UI"/>
                <a:cs typeface="Segoe UI"/>
              </a:rPr>
              <a:t>Përditësim SignalR + vlerësim rreziku dhe alarme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0A6E2B7-3E3F-497E-882D-EC616A05155D}"/>
              </a:ext>
            </a:extLst>
          </p:cNvPr>
          <p:cNvSpPr/>
          <p:nvPr/>
        </p:nvSpPr>
        <p:spPr>
          <a:xfrm>
            <a:off x="7747000" y="1625600"/>
            <a:ext cx="3683000" cy="2921000"/>
          </a:xfrm>
          <a:prstGeom prst="roundRect">
            <a:avLst/>
          </a:prstGeom>
          <a:solidFill>
            <a:srgbClr val="F2F8F9"/>
          </a:solidFill>
          <a:ln w="15875" cap="flat" cmpd="sng" algn="ctr">
            <a:solidFill>
              <a:srgbClr val="0E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4C2F88-6115-41C3-9300-7C57395267D8}"/>
              </a:ext>
            </a:extLst>
          </p:cNvPr>
          <p:cNvSpPr txBox="1"/>
          <p:nvPr/>
        </p:nvSpPr>
        <p:spPr>
          <a:xfrm>
            <a:off x="7950200" y="18288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EA5A5"/>
                </a:solidFill>
                <a:latin typeface="Montserrat"/>
              </a:rPr>
              <a:t>Dritarja rrëshqitëse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7F2C59-A555-462E-8BCC-495DB3F8F2A8}"/>
              </a:ext>
            </a:extLst>
          </p:cNvPr>
          <p:cNvSpPr txBox="1"/>
          <p:nvPr/>
        </p:nvSpPr>
        <p:spPr>
          <a:xfrm>
            <a:off x="7950200" y="22860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1D6FB8"/>
                </a:solidFill>
                <a:latin typeface="Montserrat"/>
              </a:rPr>
              <a:t>5 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D263BD-3294-4255-BA07-6A9B2D8EC010}"/>
              </a:ext>
            </a:extLst>
          </p:cNvPr>
          <p:cNvSpPr txBox="1"/>
          <p:nvPr/>
        </p:nvSpPr>
        <p:spPr>
          <a:xfrm>
            <a:off x="7950200" y="25654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250">
                <a:solidFill>
                  <a:srgbClr val="5A6B78"/>
                </a:solidFill>
                <a:latin typeface="Segoe UI"/>
                <a:cs typeface="Segoe UI"/>
              </a:rPr>
              <a:t>gjatësia e dritares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B21BB1-D34B-4560-9536-15174248C098}"/>
              </a:ext>
            </a:extLst>
          </p:cNvPr>
          <p:cNvSpPr txBox="1"/>
          <p:nvPr/>
        </p:nvSpPr>
        <p:spPr>
          <a:xfrm>
            <a:off x="7950200" y="28448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1D6FB8"/>
                </a:solidFill>
                <a:latin typeface="Montserrat"/>
              </a:rPr>
              <a:t>1 min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14A951-90E4-4B61-8EF8-B7677DB4F95A}"/>
              </a:ext>
            </a:extLst>
          </p:cNvPr>
          <p:cNvSpPr txBox="1"/>
          <p:nvPr/>
        </p:nvSpPr>
        <p:spPr>
          <a:xfrm>
            <a:off x="7950200" y="31242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250">
                <a:solidFill>
                  <a:srgbClr val="5A6B78"/>
                </a:solidFill>
                <a:latin typeface="Segoe UI"/>
                <a:cs typeface="Segoe UI"/>
              </a:rPr>
              <a:t>hapi (slide)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C8C943-392A-4EF6-BA99-9C57C977F1CC}"/>
              </a:ext>
            </a:extLst>
          </p:cNvPr>
          <p:cNvSpPr txBox="1"/>
          <p:nvPr/>
        </p:nvSpPr>
        <p:spPr>
          <a:xfrm>
            <a:off x="7950200" y="34036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1D6FB8"/>
                </a:solidFill>
                <a:latin typeface="Montserrat"/>
              </a:rPr>
              <a:t>watermark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570E88-935D-40E0-8404-0DA259AC90A9}"/>
              </a:ext>
            </a:extLst>
          </p:cNvPr>
          <p:cNvSpPr txBox="1"/>
          <p:nvPr/>
        </p:nvSpPr>
        <p:spPr>
          <a:xfrm>
            <a:off x="7950200" y="36830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250">
                <a:solidFill>
                  <a:srgbClr val="5A6B78"/>
                </a:solidFill>
                <a:latin typeface="Segoe UI"/>
                <a:cs typeface="Segoe UI"/>
              </a:rPr>
              <a:t>toleron vonesat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B992BD-FF3F-4C07-9EA0-1CA734E1D553}"/>
              </a:ext>
            </a:extLst>
          </p:cNvPr>
          <p:cNvSpPr txBox="1"/>
          <p:nvPr/>
        </p:nvSpPr>
        <p:spPr>
          <a:xfrm>
            <a:off x="7950200" y="39624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600" b="1">
                <a:solidFill>
                  <a:srgbClr val="1D6FB8"/>
                </a:solidFill>
                <a:latin typeface="Montserrat"/>
              </a:rPr>
              <a:t>vitals_window_agg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C02781-1A52-4830-9981-9B4D1A733536}"/>
              </a:ext>
            </a:extLst>
          </p:cNvPr>
          <p:cNvSpPr txBox="1"/>
          <p:nvPr/>
        </p:nvSpPr>
        <p:spPr>
          <a:xfrm>
            <a:off x="7950200" y="42418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250">
                <a:solidFill>
                  <a:srgbClr val="5A6B78"/>
                </a:solidFill>
                <a:latin typeface="Segoe UI"/>
                <a:cs typeface="Segoe UI"/>
              </a:rPr>
              <a:t>tabela e rezultateve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46251D-F06C-424C-B143-AB84960B4794}"/>
              </a:ext>
            </a:extLst>
          </p:cNvPr>
          <p:cNvSpPr txBox="1"/>
          <p:nvPr/>
        </p:nvSpPr>
        <p:spPr>
          <a:xfrm>
            <a:off x="7747000" y="4724400"/>
            <a:ext cx="3683000" cy="1143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 i="1">
                <a:solidFill>
                  <a:srgbClr val="21384A"/>
                </a:solidFill>
                <a:latin typeface="Segoe UI"/>
                <a:cs typeface="Segoe UI"/>
              </a:rPr>
              <a:t>Spark ekzekutohet me spark-submit; checkpoint-et ruajnë ofset-et e Kafka për rifillim pa humbje të të dhënave.</a:t>
            </a:r>
          </a:p>
        </p:txBody>
      </p:sp>
    </p:spTree>
    <p:extLst>
      <p:ext uri="{BB962C8B-B14F-4D97-AF65-F5344CB8AC3E}">
        <p14:creationId xmlns:p14="http://schemas.microsoft.com/office/powerpoint/2010/main" val="206113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CB4F-6915-8177-41A0-43713805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3400" dirty="0"/>
              <a:t>Ruajtja e të dhënave në Apache Cassandra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37B75C-3DDA-4A05-972B-D763D2A40A35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3F61E-D6F0-4A41-9D37-2B6C4EB73D19}"/>
              </a:ext>
            </a:extLst>
          </p:cNvPr>
          <p:cNvSpPr txBox="1"/>
          <p:nvPr/>
        </p:nvSpPr>
        <p:spPr>
          <a:xfrm>
            <a:off x="762000" y="15494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>
                <a:solidFill>
                  <a:srgbClr val="21384A"/>
                </a:solidFill>
                <a:latin typeface="Segoe UI"/>
                <a:cs typeface="Segoe UI"/>
              </a:rPr>
              <a:t>Të dhënat ruhen në keyspace-in smart_health. Cassandra zgjidhet për shkrime të shpejta me volum të lartë dhe përshtatshmëri me të dhënat time-series. Modelimi i tabelave bëhet sipas pyetjeve që ekzekuton ndërfaqja.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E3DD43-85B4-4278-8BC9-6ACE88BB2A96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260600"/>
          <a:ext cx="10668000" cy="381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3672552673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948777184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sq-AL" sz="1500" b="1">
                          <a:solidFill>
                            <a:srgbClr val="FFFFFF"/>
                          </a:solidFill>
                          <a:latin typeface="Montserrat"/>
                        </a:rPr>
                        <a:t>Tabela</a:t>
                      </a:r>
                    </a:p>
                  </a:txBody>
                  <a:tcPr anchor="ctr">
                    <a:solidFill>
                      <a:srgbClr val="0E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500" b="1">
                          <a:solidFill>
                            <a:srgbClr val="FFFFFF"/>
                          </a:solidFill>
                          <a:latin typeface="Montserrat"/>
                        </a:rPr>
                        <a:t>Përmbajtja</a:t>
                      </a:r>
                    </a:p>
                  </a:txBody>
                  <a:tcPr anchor="ctr">
                    <a:solidFill>
                      <a:srgbClr val="0E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447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1D6FB8"/>
                          </a:solidFill>
                          <a:latin typeface="Consolas"/>
                        </a:rPr>
                        <a:t>patient_vitals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Leximet e papërpunuara të parametrave vitalë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69805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1D6FB8"/>
                          </a:solidFill>
                          <a:latin typeface="Consolas"/>
                        </a:rPr>
                        <a:t>patients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Regjistri dhe profili klinik i pacientëve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65228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1D6FB8"/>
                          </a:solidFill>
                          <a:latin typeface="Consolas"/>
                        </a:rPr>
                        <a:t>alerts_log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Historiku i alarmeve (KRITIK / PARALAJMËRIM / INFO)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202688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1D6FB8"/>
                          </a:solidFill>
                          <a:latin typeface="Consolas"/>
                        </a:rPr>
                        <a:t>vitals_window_agg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Mesataret e dritareve 5-minutëshe (Apache Spark)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36024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1D6FB8"/>
                          </a:solidFill>
                          <a:latin typeface="Consolas"/>
                        </a:rPr>
                        <a:t>ai_risk_scores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Rezultati i vlerësimit të rrezikut në kohë reale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14085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1D6FB8"/>
                          </a:solidFill>
                          <a:latin typeface="Consolas"/>
                        </a:rPr>
                        <a:t>ml_predictions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21384A"/>
                          </a:solidFill>
                          <a:latin typeface="Segoe UI"/>
                          <a:cs typeface="Segoe UI"/>
                        </a:rPr>
                        <a:t>Parashikimet e modelit ML.NET për rrezikun e infarktit</a:t>
                      </a:r>
                    </a:p>
                  </a:txBody>
                  <a:tcPr anchor="ctr"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802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751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152B-E762-C059-A7E6-7AFF8A8C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Ndërfaqja e vizualizimit (Vue 3)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033FB6-0AC9-449D-800C-B1DB5473270B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1EA70-B341-4B65-9A31-8CD7F9D8F547}"/>
              </a:ext>
            </a:extLst>
          </p:cNvPr>
          <p:cNvSpPr txBox="1"/>
          <p:nvPr/>
        </p:nvSpPr>
        <p:spPr>
          <a:xfrm>
            <a:off x="762000" y="1574800"/>
            <a:ext cx="5080000" cy="1397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>
                <a:solidFill>
                  <a:srgbClr val="21384A"/>
                </a:solidFill>
                <a:latin typeface="Segoe UI"/>
                <a:cs typeface="Segoe UI"/>
              </a:rPr>
              <a:t>Ndërfaqja vue-client është zhvilluar në Vue 3 me Pinia, Vue Router dhe ApexCharts. Përditësimet në kohë reale vijnë përmes SignalR, ndërsa të dhënat historike përmes REST API-së së Vue.Api.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86769-AFA3-42BE-820F-DE9A3F0E7DC2}"/>
              </a:ext>
            </a:extLst>
          </p:cNvPr>
          <p:cNvSpPr txBox="1"/>
          <p:nvPr/>
        </p:nvSpPr>
        <p:spPr>
          <a:xfrm>
            <a:off x="762000" y="2997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500" b="1">
                <a:solidFill>
                  <a:srgbClr val="0EA5A5"/>
                </a:solidFill>
                <a:latin typeface="Montserrat"/>
              </a:rPr>
              <a:t>Shtatë faqe funksionale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027FC9-B2DE-4DFD-8E0E-34902B97C700}"/>
              </a:ext>
            </a:extLst>
          </p:cNvPr>
          <p:cNvSpPr/>
          <p:nvPr/>
        </p:nvSpPr>
        <p:spPr>
          <a:xfrm>
            <a:off x="787400" y="3441700"/>
            <a:ext cx="114300" cy="1143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1A6048-2DCD-480E-ADCC-D1FB4135ECBB}"/>
              </a:ext>
            </a:extLst>
          </p:cNvPr>
          <p:cNvSpPr txBox="1"/>
          <p:nvPr/>
        </p:nvSpPr>
        <p:spPr>
          <a:xfrm>
            <a:off x="1016000" y="33782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21384A"/>
                </a:solidFill>
                <a:latin typeface="Segoe UI"/>
                <a:cs typeface="Segoe UI"/>
              </a:rPr>
              <a:t>Dashboard — treguesit, trendet &amp; alarmet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AFDB80-FE58-4AFD-B530-83CFE030FBAB}"/>
              </a:ext>
            </a:extLst>
          </p:cNvPr>
          <p:cNvSpPr/>
          <p:nvPr/>
        </p:nvSpPr>
        <p:spPr>
          <a:xfrm>
            <a:off x="787400" y="3784600"/>
            <a:ext cx="114300" cy="1143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4F0A0C-34A8-43FB-8C64-5B19F59ABFF1}"/>
              </a:ext>
            </a:extLst>
          </p:cNvPr>
          <p:cNvSpPr txBox="1"/>
          <p:nvPr/>
        </p:nvSpPr>
        <p:spPr>
          <a:xfrm>
            <a:off x="1016000" y="37211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it-IT" sz="1300">
                <a:solidFill>
                  <a:srgbClr val="21384A"/>
                </a:solidFill>
                <a:latin typeface="Segoe UI"/>
                <a:cs typeface="Segoe UI"/>
              </a:rPr>
              <a:t>Monitorimi në kohë reale — status i vitalëve</a:t>
            </a:r>
            <a:endParaRPr lang="sq-AL" sz="1300">
              <a:solidFill>
                <a:srgbClr val="21384A"/>
              </a:solidFill>
              <a:latin typeface="Segoe UI"/>
              <a:cs typeface="Segoe U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096818-4937-44F6-8406-CE257E1A5D76}"/>
              </a:ext>
            </a:extLst>
          </p:cNvPr>
          <p:cNvSpPr/>
          <p:nvPr/>
        </p:nvSpPr>
        <p:spPr>
          <a:xfrm>
            <a:off x="787400" y="4127500"/>
            <a:ext cx="114300" cy="1143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85CFC2-D02D-48B3-B95A-172B152045FB}"/>
              </a:ext>
            </a:extLst>
          </p:cNvPr>
          <p:cNvSpPr txBox="1"/>
          <p:nvPr/>
        </p:nvSpPr>
        <p:spPr>
          <a:xfrm>
            <a:off x="1016000" y="40640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fr-FR" sz="1300">
                <a:solidFill>
                  <a:srgbClr val="21384A"/>
                </a:solidFill>
                <a:latin typeface="Segoe UI"/>
                <a:cs typeface="Segoe UI"/>
              </a:rPr>
              <a:t>Dhomat — pamje sipas dhomave 101–110</a:t>
            </a:r>
            <a:endParaRPr lang="sq-AL" sz="1300">
              <a:solidFill>
                <a:srgbClr val="21384A"/>
              </a:solidFill>
              <a:latin typeface="Segoe UI"/>
              <a:cs typeface="Segoe U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86FEBB-B0A3-4305-A932-1994AFC71033}"/>
              </a:ext>
            </a:extLst>
          </p:cNvPr>
          <p:cNvSpPr/>
          <p:nvPr/>
        </p:nvSpPr>
        <p:spPr>
          <a:xfrm>
            <a:off x="787400" y="4470400"/>
            <a:ext cx="114300" cy="1143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536A3-EF39-4DD1-971D-64365F519B49}"/>
              </a:ext>
            </a:extLst>
          </p:cNvPr>
          <p:cNvSpPr txBox="1"/>
          <p:nvPr/>
        </p:nvSpPr>
        <p:spPr>
          <a:xfrm>
            <a:off x="1016000" y="44069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it-IT" sz="1300">
                <a:solidFill>
                  <a:srgbClr val="21384A"/>
                </a:solidFill>
                <a:latin typeface="Segoe UI"/>
                <a:cs typeface="Segoe UI"/>
              </a:rPr>
              <a:t>Detajet e pacientit — grafikë &amp; rreziku AI</a:t>
            </a:r>
            <a:endParaRPr lang="sq-AL" sz="1300">
              <a:solidFill>
                <a:srgbClr val="21384A"/>
              </a:solidFill>
              <a:latin typeface="Segoe UI"/>
              <a:cs typeface="Segoe UI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0C2E0F-EE6D-4093-87D3-E841B3DD7844}"/>
              </a:ext>
            </a:extLst>
          </p:cNvPr>
          <p:cNvSpPr/>
          <p:nvPr/>
        </p:nvSpPr>
        <p:spPr>
          <a:xfrm>
            <a:off x="787400" y="4813300"/>
            <a:ext cx="114300" cy="1143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0F7BB5-C704-4F89-9BEB-0FDB9BE78E97}"/>
              </a:ext>
            </a:extLst>
          </p:cNvPr>
          <p:cNvSpPr txBox="1"/>
          <p:nvPr/>
        </p:nvSpPr>
        <p:spPr>
          <a:xfrm>
            <a:off x="1016000" y="4749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21384A"/>
                </a:solidFill>
                <a:latin typeface="Segoe UI"/>
                <a:cs typeface="Segoe UI"/>
              </a:rPr>
              <a:t>Alarmet — regjistri në kohë reale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CD69E2-EE07-43AF-8318-FAEEA3055D12}"/>
              </a:ext>
            </a:extLst>
          </p:cNvPr>
          <p:cNvSpPr/>
          <p:nvPr/>
        </p:nvSpPr>
        <p:spPr>
          <a:xfrm>
            <a:off x="787400" y="5156200"/>
            <a:ext cx="114300" cy="1143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8A494-B0C0-4406-A3F9-DB31FBE611DA}"/>
              </a:ext>
            </a:extLst>
          </p:cNvPr>
          <p:cNvSpPr txBox="1"/>
          <p:nvPr/>
        </p:nvSpPr>
        <p:spPr>
          <a:xfrm>
            <a:off x="1016000" y="50927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21384A"/>
                </a:solidFill>
                <a:latin typeface="Segoe UI"/>
                <a:cs typeface="Segoe UI"/>
              </a:rPr>
              <a:t>Analitika — agregimet 5-minutëshe të Spark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370F55-62A0-4B0C-91B3-F0879D4A5C58}"/>
              </a:ext>
            </a:extLst>
          </p:cNvPr>
          <p:cNvSpPr/>
          <p:nvPr/>
        </p:nvSpPr>
        <p:spPr>
          <a:xfrm>
            <a:off x="787400" y="5499100"/>
            <a:ext cx="114300" cy="1143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0B5167-BE9E-4504-9B55-1643397151A2}"/>
              </a:ext>
            </a:extLst>
          </p:cNvPr>
          <p:cNvSpPr txBox="1"/>
          <p:nvPr/>
        </p:nvSpPr>
        <p:spPr>
          <a:xfrm>
            <a:off x="1016000" y="5435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21384A"/>
                </a:solidFill>
                <a:latin typeface="Segoe UI"/>
                <a:cs typeface="Segoe UI"/>
              </a:rPr>
              <a:t>Shëndeti i sistemit — metrikat e pipeline-it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EEC43-2918-4850-B1BB-01841E8FB43D}"/>
              </a:ext>
            </a:extLst>
          </p:cNvPr>
          <p:cNvSpPr txBox="1"/>
          <p:nvPr/>
        </p:nvSpPr>
        <p:spPr>
          <a:xfrm>
            <a:off x="5969000" y="1905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fr-FR" sz="1200" b="1">
                <a:solidFill>
                  <a:srgbClr val="1D6FB8"/>
                </a:solidFill>
                <a:latin typeface="Segoe UI"/>
                <a:cs typeface="Segoe UI"/>
              </a:rPr>
              <a:t>Vue 3  ·  Pinia  ·  Vue Router  ·  ApexCharts  ·  SignalR</a:t>
            </a:r>
            <a:endParaRPr lang="sq-AL" sz="1200" b="1">
              <a:solidFill>
                <a:srgbClr val="1D6FB8"/>
              </a:solidFill>
              <a:latin typeface="Segoe UI"/>
              <a:cs typeface="Segoe U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00C8E9-1DA6-476F-B4C0-203BCAA5CB37}"/>
              </a:ext>
            </a:extLst>
          </p:cNvPr>
          <p:cNvSpPr/>
          <p:nvPr/>
        </p:nvSpPr>
        <p:spPr>
          <a:xfrm>
            <a:off x="5969000" y="2311400"/>
            <a:ext cx="5461000" cy="2692400"/>
          </a:xfrm>
          <a:prstGeom prst="rect">
            <a:avLst/>
          </a:prstGeom>
          <a:solidFill>
            <a:srgbClr val="F2F8F9"/>
          </a:solidFill>
          <a:ln w="12700" cap="flat" cmpd="sng" algn="ctr">
            <a:solidFill>
              <a:srgbClr val="D6E6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FF119E-3E31-40D2-99EA-6E1C34FCF69B}"/>
              </a:ext>
            </a:extLst>
          </p:cNvPr>
          <p:cNvSpPr txBox="1"/>
          <p:nvPr/>
        </p:nvSpPr>
        <p:spPr>
          <a:xfrm>
            <a:off x="5969000" y="51054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200" i="1">
                <a:solidFill>
                  <a:srgbClr val="5A6B78"/>
                </a:solidFill>
                <a:latin typeface="Segoe UI"/>
                <a:cs typeface="Segoe UI"/>
              </a:rPr>
              <a:t>Figura 2: Dashboard kryesor me treguesit dhe trendet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34DCF7-D4CD-4BE5-BE5F-FC5EDFF9228C}"/>
              </a:ext>
            </a:extLst>
          </p:cNvPr>
          <p:cNvSpPr txBox="1"/>
          <p:nvPr/>
        </p:nvSpPr>
        <p:spPr>
          <a:xfrm>
            <a:off x="5969000" y="5486400"/>
            <a:ext cx="5461000" cy="508000"/>
          </a:xfrm>
          <a:prstGeom prst="rect">
            <a:avLst/>
          </a:prstGeom>
          <a:noFill/>
        </p:spPr>
        <p:txBody>
          <a:bodyPr vertOverflow="overflow" vert="horz" wrap="square" lIns="25400" tIns="25400" rIns="25400" bIns="25400" rtlCol="0" anchor="t">
            <a:spAutoFit/>
          </a:bodyPr>
          <a:lstStyle/>
          <a:p>
            <a:pPr algn="l"/>
            <a:r>
              <a:rPr lang="sq-AL" sz="1300">
                <a:solidFill>
                  <a:srgbClr val="21384A"/>
                </a:solidFill>
                <a:latin typeface="Segoe UI"/>
                <a:cs typeface="Segoe UI"/>
              </a:rPr>
              <a:t>Përditësime live përmes SignalR; të dhëna historike përmes REST API.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3E636-BB64-70D3-C05B-352DBAA76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0" y="2374900"/>
            <a:ext cx="5334000" cy="255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34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3FE0-68D0-CA1D-73C0-1D8C0E94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Komponentët e Avancuar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79EDCE-C2E9-4100-8691-FFECDBB82E6F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39736E-1844-4ADC-96A2-2E46795F9BA5}"/>
              </a:ext>
            </a:extLst>
          </p:cNvPr>
          <p:cNvSpPr/>
          <p:nvPr/>
        </p:nvSpPr>
        <p:spPr>
          <a:xfrm>
            <a:off x="762000" y="1778000"/>
            <a:ext cx="3251200" cy="40894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80D14-0359-435C-89AE-0E171E4417B8}"/>
              </a:ext>
            </a:extLst>
          </p:cNvPr>
          <p:cNvSpPr/>
          <p:nvPr/>
        </p:nvSpPr>
        <p:spPr>
          <a:xfrm>
            <a:off x="762000" y="1778000"/>
            <a:ext cx="3251200" cy="101600"/>
          </a:xfrm>
          <a:prstGeom prst="rect">
            <a:avLst/>
          </a:prstGeom>
          <a:solidFill>
            <a:srgbClr val="6C5C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AC46-6E48-4678-B79A-254309FFF03D}"/>
              </a:ext>
            </a:extLst>
          </p:cNvPr>
          <p:cNvSpPr txBox="1"/>
          <p:nvPr/>
        </p:nvSpPr>
        <p:spPr>
          <a:xfrm>
            <a:off x="990600" y="2108200"/>
            <a:ext cx="2819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600" b="1" dirty="0">
                <a:solidFill>
                  <a:srgbClr val="0F2A43"/>
                </a:solidFill>
              </a:rPr>
              <a:t>  Inteligjenca Artificiale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14B93-8B8E-4F88-971A-F129E494A266}"/>
              </a:ext>
            </a:extLst>
          </p:cNvPr>
          <p:cNvSpPr txBox="1"/>
          <p:nvPr/>
        </p:nvSpPr>
        <p:spPr>
          <a:xfrm>
            <a:off x="990600" y="2819400"/>
            <a:ext cx="28194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Dy shtresa AI.
ML.NET (FastTree) — trajnuar offline, parashikon rrezikun e infarktit nga profili klinik.
RiskScoringEngine — vlerëson rrezikun në kohë reale, i ngjashëm me rezultatin NEWS klinik.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97FB98-6022-48BF-BBC8-9599E5BF146A}"/>
              </a:ext>
            </a:extLst>
          </p:cNvPr>
          <p:cNvSpPr/>
          <p:nvPr/>
        </p:nvSpPr>
        <p:spPr>
          <a:xfrm>
            <a:off x="4470400" y="1778000"/>
            <a:ext cx="3251200" cy="40894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29CEC2-E201-4816-A6D1-FAB02760EA2E}"/>
              </a:ext>
            </a:extLst>
          </p:cNvPr>
          <p:cNvSpPr/>
          <p:nvPr/>
        </p:nvSpPr>
        <p:spPr>
          <a:xfrm>
            <a:off x="4470400" y="1778000"/>
            <a:ext cx="3251200" cy="101600"/>
          </a:xfrm>
          <a:prstGeom prst="rect">
            <a:avLst/>
          </a:prstGeom>
          <a:solidFill>
            <a:srgbClr val="E257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9095A-B94C-498A-844A-E95EE812B7F6}"/>
              </a:ext>
            </a:extLst>
          </p:cNvPr>
          <p:cNvSpPr txBox="1"/>
          <p:nvPr/>
        </p:nvSpPr>
        <p:spPr>
          <a:xfrm>
            <a:off x="4699000" y="2108200"/>
            <a:ext cx="2819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600" b="1" dirty="0">
                <a:solidFill>
                  <a:srgbClr val="0F2A43"/>
                </a:solidFill>
              </a:rPr>
              <a:t>  Sistemi i Alarmeve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D06B7-7FF0-4743-91C4-C45AD2A0F347}"/>
              </a:ext>
            </a:extLst>
          </p:cNvPr>
          <p:cNvSpPr txBox="1"/>
          <p:nvPr/>
        </p:nvSpPr>
        <p:spPr>
          <a:xfrm>
            <a:off x="4699000" y="2819400"/>
            <a:ext cx="28194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SmartAlertEngine me logjikë inteligjente, pa tepricë alarmesh.
Cooldown 5 min për të njëjtin lloj alarmi.
Persistencë para gjenerimit.
Mesazh INFO kur pacienti stabilizohet.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87813C-DFB5-4219-B0E3-9C9919DC7EDF}"/>
              </a:ext>
            </a:extLst>
          </p:cNvPr>
          <p:cNvSpPr/>
          <p:nvPr/>
        </p:nvSpPr>
        <p:spPr>
          <a:xfrm>
            <a:off x="8178800" y="1778000"/>
            <a:ext cx="3251200" cy="40894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E8687-02C5-401E-9E6D-1068E5091FB3}"/>
              </a:ext>
            </a:extLst>
          </p:cNvPr>
          <p:cNvSpPr/>
          <p:nvPr/>
        </p:nvSpPr>
        <p:spPr>
          <a:xfrm>
            <a:off x="8178800" y="1778000"/>
            <a:ext cx="3251200" cy="101600"/>
          </a:xfrm>
          <a:prstGeom prst="rect">
            <a:avLst/>
          </a:prstGeom>
          <a:solidFill>
            <a:srgbClr val="F4A1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0B091-FDB6-46D4-8006-6507C3D050D9}"/>
              </a:ext>
            </a:extLst>
          </p:cNvPr>
          <p:cNvSpPr txBox="1"/>
          <p:nvPr/>
        </p:nvSpPr>
        <p:spPr>
          <a:xfrm>
            <a:off x="8407400" y="2108200"/>
            <a:ext cx="2819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600" b="1" dirty="0">
                <a:solidFill>
                  <a:srgbClr val="0F2A43"/>
                </a:solidFill>
              </a:rPr>
              <a:t>  Analiza e P</a:t>
            </a:r>
            <a:r>
              <a:rPr lang="en-US" sz="1600" b="1" dirty="0">
                <a:solidFill>
                  <a:srgbClr val="0F2A43"/>
                </a:solidFill>
              </a:rPr>
              <a:t>ë</a:t>
            </a:r>
            <a:r>
              <a:rPr lang="sq-AL" sz="1600" b="1" dirty="0" err="1">
                <a:solidFill>
                  <a:srgbClr val="0F2A43"/>
                </a:solidFill>
              </a:rPr>
              <a:t>rformancës</a:t>
            </a:r>
            <a:endParaRPr lang="sq-AL" sz="1600" b="1" dirty="0">
              <a:solidFill>
                <a:srgbClr val="0F2A4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BCA7EE-D8D2-4659-84B5-3950EB295632}"/>
              </a:ext>
            </a:extLst>
          </p:cNvPr>
          <p:cNvSpPr txBox="1"/>
          <p:nvPr/>
        </p:nvSpPr>
        <p:spPr>
          <a:xfrm>
            <a:off x="8407400" y="2819400"/>
            <a:ext cx="28194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MetricsCollector mat pipeline-in në kohë reale.
Mesazhe/sekondë, vonesa e përpunimit dhe numri i alarmeve.
Shfaqen në faqen 'Shëndeti i sistemit'.</a:t>
            </a:r>
          </a:p>
        </p:txBody>
      </p:sp>
    </p:spTree>
    <p:extLst>
      <p:ext uri="{BB962C8B-B14F-4D97-AF65-F5344CB8AC3E}">
        <p14:creationId xmlns:p14="http://schemas.microsoft.com/office/powerpoint/2010/main" val="223189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E1BA-F594-5B9B-4F04-4EAA1750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Sfidat dhe Mësimet e Nxjerra</a:t>
            </a:r>
            <a:endParaRPr lang="sq-A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0CC35-D00B-41E7-95B3-6231FAF6EDB5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5784A-E825-4019-BC91-ED8FBFD8F80B}"/>
              </a:ext>
            </a:extLst>
          </p:cNvPr>
          <p:cNvSpPr txBox="1"/>
          <p:nvPr/>
        </p:nvSpPr>
        <p:spPr>
          <a:xfrm>
            <a:off x="762000" y="15240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Gjatë ndërtimit u hasën disa sfida teknike; trajtimi i tyre përbën mësimet kryesore të projektit.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1681E7-805C-4BC8-9FAD-2D689C520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756426"/>
              </p:ext>
            </p:extLst>
          </p:nvPr>
        </p:nvGraphicFramePr>
        <p:xfrm>
          <a:off x="762000" y="2108200"/>
          <a:ext cx="106680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965769108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9662234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FFFFFF"/>
                          </a:solidFill>
                        </a:rPr>
                        <a:t>Sfida</a:t>
                      </a:r>
                    </a:p>
                  </a:txBody>
                  <a:tcPr anchor="ctr">
                    <a:solidFill>
                      <a:srgbClr val="0E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FFFFFF"/>
                          </a:solidFill>
                        </a:rPr>
                        <a:t>Si u trajtua</a:t>
                      </a:r>
                    </a:p>
                  </a:txBody>
                  <a:tcPr anchor="ctr">
                    <a:solidFill>
                      <a:srgbClr val="0E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85813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</a:rPr>
                        <a:t>Garancia e moshumbjes së të dhënave nga Kafka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0F2A43"/>
                          </a:solidFill>
                        </a:rPr>
                        <a:t>Checkpoint-e për ruajtjen e ofset-eve dhe rifillim pa humbje pas ndërprerjes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43683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</a:rPr>
                        <a:t>Të dhëna jashtë rendit në agregime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0F2A43"/>
                          </a:solidFill>
                        </a:rPr>
                        <a:t>Watermark me dritare rrëshqitëse 5-minutëshe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13961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</a:rPr>
                        <a:t>Tepricë alarmesh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0F2A43"/>
                          </a:solidFill>
                        </a:rPr>
                        <a:t>Logjikë me cooldown dhe persistencë në SmartAlertEngine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34147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sq-AL" sz="1400" b="1">
                          <a:solidFill>
                            <a:srgbClr val="0F2A43"/>
                          </a:solidFill>
                        </a:rPr>
                        <a:t>Komunikimi në kohë reale me ndërfaqen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q-AL" sz="1400">
                          <a:solidFill>
                            <a:srgbClr val="0F2A43"/>
                          </a:solidFill>
                        </a:rPr>
                        <a:t>Lidhja e Streaming.App si klient SignalR te hub-i i Vue.Api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637072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4AB758-F2A4-4EF5-9DC9-FDB427EA5278}"/>
              </a:ext>
            </a:extLst>
          </p:cNvPr>
          <p:cNvSpPr/>
          <p:nvPr/>
        </p:nvSpPr>
        <p:spPr>
          <a:xfrm>
            <a:off x="762000" y="5461000"/>
            <a:ext cx="10668000" cy="990600"/>
          </a:xfrm>
          <a:prstGeom prst="roundRect">
            <a:avLst/>
          </a:prstGeom>
          <a:solidFill>
            <a:srgbClr val="0F2A4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47A05-1C8A-4916-B336-7999538760FA}"/>
              </a:ext>
            </a:extLst>
          </p:cNvPr>
          <p:cNvSpPr txBox="1"/>
          <p:nvPr/>
        </p:nvSpPr>
        <p:spPr>
          <a:xfrm>
            <a:off x="1016000" y="56388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sq-AL" sz="1400">
                <a:solidFill>
                  <a:srgbClr val="FFFFFF"/>
                </a:solidFill>
              </a:rPr>
              <a:t>Mësimet kryesore:  decoupling-u me Kafka e bën sistemin më të qëndrueshëm dhe të zgjerueshëm, ndërsa përpunimi në kohë reale kërkon balancim midis saktësisë dhe vonesës.</a:t>
            </a:r>
          </a:p>
        </p:txBody>
      </p:sp>
    </p:spTree>
    <p:extLst>
      <p:ext uri="{BB962C8B-B14F-4D97-AF65-F5344CB8AC3E}">
        <p14:creationId xmlns:p14="http://schemas.microsoft.com/office/powerpoint/2010/main" val="3625860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3301-6E0C-488C-EC44-95986A51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Përfundime dhe Rekomandime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899FC6-E34A-4A0F-9DAB-6E8CA8DDAA38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FB505E-1A0D-43DB-B293-48E6AE8C8126}"/>
              </a:ext>
            </a:extLst>
          </p:cNvPr>
          <p:cNvSpPr/>
          <p:nvPr/>
        </p:nvSpPr>
        <p:spPr>
          <a:xfrm>
            <a:off x="762000" y="1625600"/>
            <a:ext cx="10668000" cy="16002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8A7055-6AB4-466A-A18B-1C0F3C5F2178}"/>
              </a:ext>
            </a:extLst>
          </p:cNvPr>
          <p:cNvSpPr/>
          <p:nvPr/>
        </p:nvSpPr>
        <p:spPr>
          <a:xfrm>
            <a:off x="762000" y="1625600"/>
            <a:ext cx="101600" cy="16002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06E81-5A9D-469A-9177-C4B78C1AF2CB}"/>
              </a:ext>
            </a:extLst>
          </p:cNvPr>
          <p:cNvSpPr txBox="1"/>
          <p:nvPr/>
        </p:nvSpPr>
        <p:spPr>
          <a:xfrm>
            <a:off x="1143000" y="1803400"/>
            <a:ext cx="990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600" b="1">
                <a:solidFill>
                  <a:srgbClr val="0F2A43"/>
                </a:solidFill>
              </a:rPr>
              <a:t>Përfundim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E3F82-A1CB-4ADE-B51B-EE40A187297C}"/>
              </a:ext>
            </a:extLst>
          </p:cNvPr>
          <p:cNvSpPr txBox="1"/>
          <p:nvPr/>
        </p:nvSpPr>
        <p:spPr>
          <a:xfrm>
            <a:off x="1143000" y="2159000"/>
            <a:ext cx="10058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Projekti realizon një pipeline IoT funksional nga fillimi në fund: mbledhja e të dhënave nga sensorë të simuluar, transmetimi me Apache Kafka, përpunimi në kohë reale me Apache Spark, ruajtja në Apache Cassandra dhe vizualizimi në Vue 3 — plus tri komponentët e avancuar: inteligjenca artificiale, sistemi i alarmeve dhe analiza e performancës.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DBB34-53BB-4878-8F7F-F95F800566FD}"/>
              </a:ext>
            </a:extLst>
          </p:cNvPr>
          <p:cNvSpPr txBox="1"/>
          <p:nvPr/>
        </p:nvSpPr>
        <p:spPr>
          <a:xfrm>
            <a:off x="762000" y="34544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600" b="1">
                <a:solidFill>
                  <a:srgbClr val="0F2A43"/>
                </a:solidFill>
              </a:rPr>
              <a:t>Rekomandime kryesore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447CFE-9FD7-4E15-9184-B6FA0EEB8DBF}"/>
              </a:ext>
            </a:extLst>
          </p:cNvPr>
          <p:cNvSpPr/>
          <p:nvPr/>
        </p:nvSpPr>
        <p:spPr>
          <a:xfrm>
            <a:off x="762000" y="3886200"/>
            <a:ext cx="5181600" cy="19812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E2A520-3584-4068-A46D-C76AA098729B}"/>
              </a:ext>
            </a:extLst>
          </p:cNvPr>
          <p:cNvSpPr/>
          <p:nvPr/>
        </p:nvSpPr>
        <p:spPr>
          <a:xfrm>
            <a:off x="1016000" y="4140200"/>
            <a:ext cx="584200" cy="5842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D4023-F1A2-4332-B23B-DCBA84996FD8}"/>
              </a:ext>
            </a:extLst>
          </p:cNvPr>
          <p:cNvSpPr txBox="1"/>
          <p:nvPr/>
        </p:nvSpPr>
        <p:spPr>
          <a:xfrm>
            <a:off x="1828800" y="4089400"/>
            <a:ext cx="3886200" cy="157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Përdorimi i Apache Kafka si shtresë qendrore e transmetimit në sistemet IoT me volum të lartë.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8F8502-88A4-40BE-A215-06930632D29B}"/>
              </a:ext>
            </a:extLst>
          </p:cNvPr>
          <p:cNvSpPr/>
          <p:nvPr/>
        </p:nvSpPr>
        <p:spPr>
          <a:xfrm>
            <a:off x="6248400" y="3886200"/>
            <a:ext cx="5181600" cy="19812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DA1326-1D38-46BA-AE05-2C8024E0A0D7}"/>
              </a:ext>
            </a:extLst>
          </p:cNvPr>
          <p:cNvSpPr/>
          <p:nvPr/>
        </p:nvSpPr>
        <p:spPr>
          <a:xfrm>
            <a:off x="6502400" y="4140200"/>
            <a:ext cx="584200" cy="584200"/>
          </a:xfrm>
          <a:prstGeom prst="ellipse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78DA37-E3F5-463E-B32D-F3B869CCF4B7}"/>
              </a:ext>
            </a:extLst>
          </p:cNvPr>
          <p:cNvSpPr txBox="1"/>
          <p:nvPr/>
        </p:nvSpPr>
        <p:spPr>
          <a:xfrm>
            <a:off x="7315200" y="4089400"/>
            <a:ext cx="3886200" cy="157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Projektimi i skemës së Cassandra-s sipas modelit të pyetjeve, për performancë optimale të leximit.</a:t>
            </a:r>
          </a:p>
        </p:txBody>
      </p:sp>
    </p:spTree>
    <p:extLst>
      <p:ext uri="{BB962C8B-B14F-4D97-AF65-F5344CB8AC3E}">
        <p14:creationId xmlns:p14="http://schemas.microsoft.com/office/powerpoint/2010/main" val="3598650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0247-F9BF-864E-48EF-358E6895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Puna e Ardhshme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4528A9-6F2E-4600-8554-902BF5D3181B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04F9A6-4D9F-430B-AED4-D70DB37BBB7F}"/>
              </a:ext>
            </a:extLst>
          </p:cNvPr>
          <p:cNvSpPr/>
          <p:nvPr/>
        </p:nvSpPr>
        <p:spPr>
          <a:xfrm>
            <a:off x="762000" y="1676400"/>
            <a:ext cx="5181600" cy="19812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F56BB-9BBD-44AB-BE25-4B76980FB19D}"/>
              </a:ext>
            </a:extLst>
          </p:cNvPr>
          <p:cNvSpPr/>
          <p:nvPr/>
        </p:nvSpPr>
        <p:spPr>
          <a:xfrm>
            <a:off x="762000" y="1676400"/>
            <a:ext cx="101600" cy="19812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134256-A6D7-4B18-9F1D-975CDBF3752F}"/>
              </a:ext>
            </a:extLst>
          </p:cNvPr>
          <p:cNvSpPr/>
          <p:nvPr/>
        </p:nvSpPr>
        <p:spPr>
          <a:xfrm>
            <a:off x="1066800" y="1955800"/>
            <a:ext cx="584200" cy="584200"/>
          </a:xfrm>
          <a:prstGeom prst="ellipse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B795F-FC11-4BB8-8A47-1ADBDB499FB3}"/>
              </a:ext>
            </a:extLst>
          </p:cNvPr>
          <p:cNvSpPr txBox="1"/>
          <p:nvPr/>
        </p:nvSpPr>
        <p:spPr>
          <a:xfrm>
            <a:off x="1854200" y="19304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</a:rPr>
              <a:t>Sensorë fizikë realë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4551F-C9C0-456E-AE87-CE98658E26D2}"/>
              </a:ext>
            </a:extLst>
          </p:cNvPr>
          <p:cNvSpPr txBox="1"/>
          <p:nvPr/>
        </p:nvSpPr>
        <p:spPr>
          <a:xfrm>
            <a:off x="1854200" y="2311400"/>
            <a:ext cx="3810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Zëvendësimi i simulatorit me sensorë realë, p.sh. përmes protokollit MQTT.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0BF70F-F2B0-44A1-9FE9-E8A92941CCB9}"/>
              </a:ext>
            </a:extLst>
          </p:cNvPr>
          <p:cNvSpPr/>
          <p:nvPr/>
        </p:nvSpPr>
        <p:spPr>
          <a:xfrm>
            <a:off x="6248400" y="1676400"/>
            <a:ext cx="5181600" cy="19812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896227-3F48-45F5-9868-18930FFA5B57}"/>
              </a:ext>
            </a:extLst>
          </p:cNvPr>
          <p:cNvSpPr/>
          <p:nvPr/>
        </p:nvSpPr>
        <p:spPr>
          <a:xfrm>
            <a:off x="6248400" y="1676400"/>
            <a:ext cx="101600" cy="1981200"/>
          </a:xfrm>
          <a:prstGeom prst="rect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E00965-BD2F-494E-B930-D99DC4DA48A0}"/>
              </a:ext>
            </a:extLst>
          </p:cNvPr>
          <p:cNvSpPr/>
          <p:nvPr/>
        </p:nvSpPr>
        <p:spPr>
          <a:xfrm>
            <a:off x="6553200" y="1955800"/>
            <a:ext cx="584200" cy="584200"/>
          </a:xfrm>
          <a:prstGeom prst="ellipse">
            <a:avLst/>
          </a:prstGeom>
          <a:solidFill>
            <a:srgbClr val="1D6F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4C838-2B8D-4013-A8BE-83C16107E357}"/>
              </a:ext>
            </a:extLst>
          </p:cNvPr>
          <p:cNvSpPr txBox="1"/>
          <p:nvPr/>
        </p:nvSpPr>
        <p:spPr>
          <a:xfrm>
            <a:off x="7340600" y="19304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</a:rPr>
              <a:t>Autentikim &amp; autorizim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DFFD9-E2FC-448D-B15D-CBC370C0E23A}"/>
              </a:ext>
            </a:extLst>
          </p:cNvPr>
          <p:cNvSpPr txBox="1"/>
          <p:nvPr/>
        </p:nvSpPr>
        <p:spPr>
          <a:xfrm>
            <a:off x="7340600" y="2311400"/>
            <a:ext cx="3810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Shtimi i autentikimit dhe autorizimit me role për stafin mjekësor.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743661-593F-4BCF-AE6F-80878FA75974}"/>
              </a:ext>
            </a:extLst>
          </p:cNvPr>
          <p:cNvSpPr/>
          <p:nvPr/>
        </p:nvSpPr>
        <p:spPr>
          <a:xfrm>
            <a:off x="762000" y="3860800"/>
            <a:ext cx="5181600" cy="19812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716D51-E2AB-43D3-98B5-3FB47C9728B1}"/>
              </a:ext>
            </a:extLst>
          </p:cNvPr>
          <p:cNvSpPr/>
          <p:nvPr/>
        </p:nvSpPr>
        <p:spPr>
          <a:xfrm>
            <a:off x="762000" y="3860800"/>
            <a:ext cx="101600" cy="1981200"/>
          </a:xfrm>
          <a:prstGeom prst="rect">
            <a:avLst/>
          </a:prstGeom>
          <a:solidFill>
            <a:srgbClr val="2BB6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7E3B76-A491-49EA-B2B8-609B95D35058}"/>
              </a:ext>
            </a:extLst>
          </p:cNvPr>
          <p:cNvSpPr/>
          <p:nvPr/>
        </p:nvSpPr>
        <p:spPr>
          <a:xfrm>
            <a:off x="1066800" y="4140200"/>
            <a:ext cx="584200" cy="584200"/>
          </a:xfrm>
          <a:prstGeom prst="ellipse">
            <a:avLst/>
          </a:prstGeom>
          <a:solidFill>
            <a:srgbClr val="2BB6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41967B-A450-429D-9961-B98E0C861EA4}"/>
              </a:ext>
            </a:extLst>
          </p:cNvPr>
          <p:cNvSpPr txBox="1"/>
          <p:nvPr/>
        </p:nvSpPr>
        <p:spPr>
          <a:xfrm>
            <a:off x="1854200" y="41148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</a:rPr>
              <a:t>Ritrajnim i modelit AI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7E1BC0-CE12-48A6-9F73-8D103D43B5C2}"/>
              </a:ext>
            </a:extLst>
          </p:cNvPr>
          <p:cNvSpPr txBox="1"/>
          <p:nvPr/>
        </p:nvSpPr>
        <p:spPr>
          <a:xfrm>
            <a:off x="1854200" y="4495800"/>
            <a:ext cx="3810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Ritrajnimi i modelit me një dataset klinik më të pasur dhe më të balancuar.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1EE3C2-FAF4-4678-9157-201911E0E182}"/>
              </a:ext>
            </a:extLst>
          </p:cNvPr>
          <p:cNvSpPr/>
          <p:nvPr/>
        </p:nvSpPr>
        <p:spPr>
          <a:xfrm>
            <a:off x="6248400" y="3860800"/>
            <a:ext cx="5181600" cy="1981200"/>
          </a:xfrm>
          <a:prstGeom prst="round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B41D14-F5CB-4D9D-83FE-E47DBE365F80}"/>
              </a:ext>
            </a:extLst>
          </p:cNvPr>
          <p:cNvSpPr/>
          <p:nvPr/>
        </p:nvSpPr>
        <p:spPr>
          <a:xfrm>
            <a:off x="6248400" y="3860800"/>
            <a:ext cx="101600" cy="1981200"/>
          </a:xfrm>
          <a:prstGeom prst="rect">
            <a:avLst/>
          </a:prstGeom>
          <a:solidFill>
            <a:srgbClr val="F4A1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962FDB-A835-4060-9F84-4548F8B80DB6}"/>
              </a:ext>
            </a:extLst>
          </p:cNvPr>
          <p:cNvSpPr/>
          <p:nvPr/>
        </p:nvSpPr>
        <p:spPr>
          <a:xfrm>
            <a:off x="6553200" y="4140200"/>
            <a:ext cx="584200" cy="584200"/>
          </a:xfrm>
          <a:prstGeom prst="ellipse">
            <a:avLst/>
          </a:prstGeom>
          <a:solidFill>
            <a:srgbClr val="F4A1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sq-AL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7B13B-AFAE-4080-A5D6-C1258DEB5665}"/>
              </a:ext>
            </a:extLst>
          </p:cNvPr>
          <p:cNvSpPr txBox="1"/>
          <p:nvPr/>
        </p:nvSpPr>
        <p:spPr>
          <a:xfrm>
            <a:off x="7340600" y="41148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500" b="1">
                <a:solidFill>
                  <a:srgbClr val="0F2A43"/>
                </a:solidFill>
              </a:rPr>
              <a:t>Ruajtje afatgjatë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859065-0EFA-4353-B89C-02D10C9F15D1}"/>
              </a:ext>
            </a:extLst>
          </p:cNvPr>
          <p:cNvSpPr txBox="1"/>
          <p:nvPr/>
        </p:nvSpPr>
        <p:spPr>
          <a:xfrm>
            <a:off x="7340600" y="4495800"/>
            <a:ext cx="3810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22303A"/>
                </a:solidFill>
              </a:rPr>
              <a:t>Politika ruajtjeje me TTL dhe arkivim të të dhënave historike.</a:t>
            </a:r>
          </a:p>
        </p:txBody>
      </p:sp>
    </p:spTree>
    <p:extLst>
      <p:ext uri="{BB962C8B-B14F-4D97-AF65-F5344CB8AC3E}">
        <p14:creationId xmlns:p14="http://schemas.microsoft.com/office/powerpoint/2010/main" val="34578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59E8-2D94-C552-F5D5-391BBA7E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Pamje nga </a:t>
            </a:r>
            <a:r>
              <a:rPr lang="sq-AL" dirty="0" err="1"/>
              <a:t>Ndërfaq</a:t>
            </a:r>
            <a:r>
              <a:rPr lang="en-US" dirty="0"/>
              <a:t>ja</a:t>
            </a:r>
            <a:endParaRPr lang="sq-A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B6953B-C1A7-404F-B19A-B2485ACD6491}"/>
              </a:ext>
            </a:extLst>
          </p:cNvPr>
          <p:cNvSpPr/>
          <p:nvPr/>
        </p:nvSpPr>
        <p:spPr>
          <a:xfrm>
            <a:off x="787400" y="1219200"/>
            <a:ext cx="812800" cy="508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B86AAC-9C66-4809-A25C-AEAF3A92561C}"/>
              </a:ext>
            </a:extLst>
          </p:cNvPr>
          <p:cNvSpPr/>
          <p:nvPr/>
        </p:nvSpPr>
        <p:spPr>
          <a:xfrm>
            <a:off x="762000" y="1778000"/>
            <a:ext cx="3378200" cy="1676400"/>
          </a:xfrm>
          <a:prstGeom prst="roundRect">
            <a:avLst/>
          </a:prstGeom>
          <a:solidFill>
            <a:srgbClr val="EEF3F7"/>
          </a:solidFill>
          <a:ln w="12700" cap="flat" cmpd="sng" algn="ctr">
            <a:solidFill>
              <a:srgbClr val="D5DE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95493-F241-4153-9EE8-2E21186EAE31}"/>
              </a:ext>
            </a:extLst>
          </p:cNvPr>
          <p:cNvSpPr txBox="1"/>
          <p:nvPr/>
        </p:nvSpPr>
        <p:spPr>
          <a:xfrm>
            <a:off x="762000" y="3530600"/>
            <a:ext cx="337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300" b="1">
                <a:solidFill>
                  <a:srgbClr val="0F2A43"/>
                </a:solidFill>
              </a:rPr>
              <a:t>Figura 3 · Monitorimi live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CDDB10-E5E5-4FB5-B97A-65A79C5EF94F}"/>
              </a:ext>
            </a:extLst>
          </p:cNvPr>
          <p:cNvSpPr/>
          <p:nvPr/>
        </p:nvSpPr>
        <p:spPr>
          <a:xfrm>
            <a:off x="4406900" y="1778000"/>
            <a:ext cx="3378200" cy="1676400"/>
          </a:xfrm>
          <a:prstGeom prst="roundRect">
            <a:avLst/>
          </a:prstGeom>
          <a:solidFill>
            <a:srgbClr val="EEF3F7"/>
          </a:solidFill>
          <a:ln w="12700" cap="flat" cmpd="sng" algn="ctr">
            <a:solidFill>
              <a:srgbClr val="D5DE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F80D69-C653-456C-84D5-079C7CF06AAF}"/>
              </a:ext>
            </a:extLst>
          </p:cNvPr>
          <p:cNvSpPr txBox="1"/>
          <p:nvPr/>
        </p:nvSpPr>
        <p:spPr>
          <a:xfrm>
            <a:off x="4406900" y="3530600"/>
            <a:ext cx="337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300" b="1">
                <a:solidFill>
                  <a:srgbClr val="0F2A43"/>
                </a:solidFill>
              </a:rPr>
              <a:t>Figura 4 · Dhomat 101–110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BDEE51-ABFA-4D33-8030-E8590E8CB4CE}"/>
              </a:ext>
            </a:extLst>
          </p:cNvPr>
          <p:cNvSpPr/>
          <p:nvPr/>
        </p:nvSpPr>
        <p:spPr>
          <a:xfrm>
            <a:off x="8051800" y="1778000"/>
            <a:ext cx="3378200" cy="1676400"/>
          </a:xfrm>
          <a:prstGeom prst="roundRect">
            <a:avLst/>
          </a:prstGeom>
          <a:solidFill>
            <a:srgbClr val="EEF3F7"/>
          </a:solidFill>
          <a:ln w="12700" cap="flat" cmpd="sng" algn="ctr">
            <a:solidFill>
              <a:srgbClr val="D5DE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C83CD-8AA7-429D-817B-1481C1114772}"/>
              </a:ext>
            </a:extLst>
          </p:cNvPr>
          <p:cNvSpPr txBox="1"/>
          <p:nvPr/>
        </p:nvSpPr>
        <p:spPr>
          <a:xfrm>
            <a:off x="8051800" y="3530600"/>
            <a:ext cx="337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300" b="1">
                <a:solidFill>
                  <a:srgbClr val="0F2A43"/>
                </a:solidFill>
              </a:rPr>
              <a:t>Figura 5 · Pacienti + AI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0AD5BC-DC1F-4497-B6CB-04642273B9E0}"/>
              </a:ext>
            </a:extLst>
          </p:cNvPr>
          <p:cNvSpPr/>
          <p:nvPr/>
        </p:nvSpPr>
        <p:spPr>
          <a:xfrm>
            <a:off x="762000" y="4089400"/>
            <a:ext cx="3378200" cy="1676400"/>
          </a:xfrm>
          <a:prstGeom prst="roundRect">
            <a:avLst/>
          </a:prstGeom>
          <a:solidFill>
            <a:srgbClr val="EEF3F7"/>
          </a:solidFill>
          <a:ln w="12700" cap="flat" cmpd="sng" algn="ctr">
            <a:solidFill>
              <a:srgbClr val="D5DE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4BD85-2791-4C78-A173-E5C813E03CEE}"/>
              </a:ext>
            </a:extLst>
          </p:cNvPr>
          <p:cNvSpPr txBox="1"/>
          <p:nvPr/>
        </p:nvSpPr>
        <p:spPr>
          <a:xfrm>
            <a:off x="762000" y="5842000"/>
            <a:ext cx="337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300" b="1">
                <a:solidFill>
                  <a:srgbClr val="0F2A43"/>
                </a:solidFill>
              </a:rPr>
              <a:t>Figura 6 · Alarmet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7D9E4F-C236-43DF-A31C-16AB3B274BC2}"/>
              </a:ext>
            </a:extLst>
          </p:cNvPr>
          <p:cNvSpPr/>
          <p:nvPr/>
        </p:nvSpPr>
        <p:spPr>
          <a:xfrm>
            <a:off x="4406900" y="4089400"/>
            <a:ext cx="3378200" cy="1676400"/>
          </a:xfrm>
          <a:prstGeom prst="roundRect">
            <a:avLst/>
          </a:prstGeom>
          <a:solidFill>
            <a:srgbClr val="EEF3F7"/>
          </a:solidFill>
          <a:ln w="12700" cap="flat" cmpd="sng" algn="ctr">
            <a:solidFill>
              <a:srgbClr val="D5DE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8ED867-1FA2-410F-92DE-6E0BE8A5CD3E}"/>
              </a:ext>
            </a:extLst>
          </p:cNvPr>
          <p:cNvSpPr txBox="1"/>
          <p:nvPr/>
        </p:nvSpPr>
        <p:spPr>
          <a:xfrm>
            <a:off x="4406900" y="5842000"/>
            <a:ext cx="337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300" b="1">
                <a:solidFill>
                  <a:srgbClr val="0F2A43"/>
                </a:solidFill>
              </a:rPr>
              <a:t>Figura 7 · Analitika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786D2E-7CCA-4D20-969A-FF331A359FBA}"/>
              </a:ext>
            </a:extLst>
          </p:cNvPr>
          <p:cNvSpPr/>
          <p:nvPr/>
        </p:nvSpPr>
        <p:spPr>
          <a:xfrm>
            <a:off x="8051800" y="4089400"/>
            <a:ext cx="3378200" cy="1676400"/>
          </a:xfrm>
          <a:prstGeom prst="roundRect">
            <a:avLst/>
          </a:prstGeom>
          <a:solidFill>
            <a:srgbClr val="EEF3F7"/>
          </a:solidFill>
          <a:ln w="12700" cap="flat" cmpd="sng" algn="ctr">
            <a:solidFill>
              <a:srgbClr val="D5DE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B530C-55AB-4772-A925-701047D8787D}"/>
              </a:ext>
            </a:extLst>
          </p:cNvPr>
          <p:cNvSpPr txBox="1"/>
          <p:nvPr/>
        </p:nvSpPr>
        <p:spPr>
          <a:xfrm>
            <a:off x="8051800" y="5842000"/>
            <a:ext cx="337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300" b="1">
                <a:solidFill>
                  <a:srgbClr val="0F2A43"/>
                </a:solidFill>
              </a:rPr>
              <a:t>Figura 8 · Shëndeti i sistemit</a:t>
            </a:r>
            <a:endParaRPr lang="sq-AL" sz="1300" b="1">
              <a:solidFill>
                <a:srgbClr val="0F2A43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8496AE-735B-464E-704B-84E19FE01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3378200" cy="1415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E61875-4E14-4D49-8543-22B0F6F7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00" y="1778000"/>
            <a:ext cx="3378200" cy="12311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632C9B-1B93-36DF-85D0-AAEB8657A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0" y="1778000"/>
            <a:ext cx="3378200" cy="15900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A96080-600A-D947-F494-D35A4EC59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89400"/>
            <a:ext cx="3378200" cy="15275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30781A-DA67-1E74-7C5D-9257B531F6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900" y="4089400"/>
            <a:ext cx="3378200" cy="15152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9385CC-3C29-A201-AF8F-BC9F75BE60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800" y="4089400"/>
            <a:ext cx="3378200" cy="128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17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E92133-FF17-4989-A3FF-C03C8C3114E7}"/>
              </a:ext>
            </a:extLst>
          </p:cNvPr>
          <p:cNvSpPr/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801A71-2ED6-4A5F-A1E4-EE548BA671CF}"/>
              </a:ext>
            </a:extLst>
          </p:cNvPr>
          <p:cNvSpPr/>
          <p:nvPr/>
        </p:nvSpPr>
        <p:spPr>
          <a:xfrm>
            <a:off x="355600" y="304800"/>
            <a:ext cx="330200" cy="330200"/>
          </a:xfrm>
          <a:prstGeom prst="round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D21B4-61E8-4E69-BA9D-AB01CA8AE1B0}"/>
              </a:ext>
            </a:extLst>
          </p:cNvPr>
          <p:cNvSpPr txBox="1"/>
          <p:nvPr/>
        </p:nvSpPr>
        <p:spPr>
          <a:xfrm>
            <a:off x="1651000" y="2997200"/>
            <a:ext cx="88900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sq-AL" sz="6000" b="1">
                <a:solidFill>
                  <a:srgbClr val="0F2A43"/>
                </a:solidFill>
                <a:latin typeface="Montserrat"/>
              </a:rPr>
              <a:t>Faleminderit!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A8CD5-A4B6-4F43-9C44-270856243D99}"/>
              </a:ext>
            </a:extLst>
          </p:cNvPr>
          <p:cNvSpPr/>
          <p:nvPr/>
        </p:nvSpPr>
        <p:spPr>
          <a:xfrm>
            <a:off x="5334000" y="4267200"/>
            <a:ext cx="1524000" cy="63500"/>
          </a:xfrm>
          <a:prstGeom prst="rect">
            <a:avLst/>
          </a:prstGeom>
          <a:solidFill>
            <a:srgbClr val="0EA5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8FD34-3707-4237-9ADB-513F867AE1A8}"/>
              </a:ext>
            </a:extLst>
          </p:cNvPr>
          <p:cNvSpPr txBox="1"/>
          <p:nvPr/>
        </p:nvSpPr>
        <p:spPr>
          <a:xfrm>
            <a:off x="1651000" y="45212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D6FB8"/>
                </a:solidFill>
                <a:latin typeface="Montserrat"/>
              </a:rPr>
              <a:t>Smart Health Monitoring  ·  Internet of Things — Projekti 2</a:t>
            </a:r>
            <a:endParaRPr lang="sq-AL" sz="2000" b="1">
              <a:solidFill>
                <a:srgbClr val="1D6FB8"/>
              </a:solidFill>
              <a:latin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816C2-42F7-492B-9F8F-9318D82B7B76}"/>
              </a:ext>
            </a:extLst>
          </p:cNvPr>
          <p:cNvSpPr txBox="1"/>
          <p:nvPr/>
        </p:nvSpPr>
        <p:spPr>
          <a:xfrm>
            <a:off x="1651000" y="51054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>
                <a:solidFill>
                  <a:srgbClr val="5B6B7A"/>
                </a:solidFill>
                <a:latin typeface="Montserrat"/>
              </a:rPr>
              <a:t>Rinor Ukshini   ·   Rina Bunjaku   ·   Arton Gërguri</a:t>
            </a:r>
            <a:endParaRPr lang="sq-AL" sz="1600">
              <a:solidFill>
                <a:srgbClr val="5B6B7A"/>
              </a:solidFill>
              <a:latin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C4F60-3AFE-4542-8ABC-DFF6E38ED0D4}"/>
              </a:ext>
            </a:extLst>
          </p:cNvPr>
          <p:cNvSpPr txBox="1"/>
          <p:nvPr/>
        </p:nvSpPr>
        <p:spPr>
          <a:xfrm>
            <a:off x="1651000" y="5511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sq-AL" sz="1300">
                <a:solidFill>
                  <a:srgbClr val="5B6B7A"/>
                </a:solidFill>
                <a:latin typeface="Montserrat"/>
              </a:rPr>
              <a:t>Lënda: Internet of Things  |  Profesor: Besmir Sejdiu  |  Prishtinë, 2026</a:t>
            </a:r>
          </a:p>
        </p:txBody>
      </p:sp>
      <p:pic>
        <p:nvPicPr>
          <p:cNvPr id="9" name="Graphic 9" descr="Teal heart with pulse, closing sli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1800" y="1676400"/>
            <a:ext cx="11684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4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301270733]">
  <a:themeElements>
    <a:clrScheme name="Office">
      <a:dk1>
        <a:srgbClr val="0F2A43"/>
      </a:dk1>
      <a:lt1>
        <a:srgbClr val="FFFFFF"/>
      </a:lt1>
      <a:dk2>
        <a:srgbClr val="12303F"/>
      </a:dk2>
      <a:lt2>
        <a:srgbClr val="EEF3F7"/>
      </a:lt2>
      <a:accent1>
        <a:srgbClr val="0EA5A5"/>
      </a:accent1>
      <a:accent2>
        <a:srgbClr val="1D6FB8"/>
      </a:accent2>
      <a:accent3>
        <a:srgbClr val="E2574C"/>
      </a:accent3>
      <a:accent4>
        <a:srgbClr val="2BB673"/>
      </a:accent4>
      <a:accent5>
        <a:srgbClr val="F4A11A"/>
      </a:accent5>
      <a:accent6>
        <a:srgbClr val="6C5CE7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0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082502-52EF-4785-801F-AB7D2840163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94430337-6383-49df-8d85-69a342e980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1341</Words>
  <Application>Microsoft Office PowerPoint</Application>
  <PresentationFormat>Widescreen</PresentationFormat>
  <Paragraphs>201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Montserrat</vt:lpstr>
      <vt:lpstr>Segoe UI</vt:lpstr>
      <vt:lpstr>Office Theme [1781301270733]</vt:lpstr>
      <vt:lpstr>PowerPoint Presentation</vt:lpstr>
      <vt:lpstr>Hyrje</vt:lpstr>
      <vt:lpstr>Objektivat e projektit</vt:lpstr>
      <vt:lpstr>Arkitektura e sistemit</vt:lpstr>
      <vt:lpstr>Modulet kryesore</vt:lpstr>
      <vt:lpstr>Apache Kafka — shtresa e transmetimit</vt:lpstr>
      <vt:lpstr>Procesimi me Apache Spark Streaming</vt:lpstr>
      <vt:lpstr>Ruajtja e të dhënave në Apache Cassandra</vt:lpstr>
      <vt:lpstr>Ndërfaqja e vizualizimit (Vue 3)</vt:lpstr>
      <vt:lpstr>Komponentët e Avancuar</vt:lpstr>
      <vt:lpstr>Sfidat dhe Mësimet e Nxjerra</vt:lpstr>
      <vt:lpstr>Përfundime dhe Rekomandime</vt:lpstr>
      <vt:lpstr>Puna e Ardhshme</vt:lpstr>
      <vt:lpstr>Pamje nga Ndërfaqja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Arton Gërguri</dc:creator>
  <cp:lastModifiedBy>Arton Gërguri</cp:lastModifiedBy>
  <cp:revision>6</cp:revision>
  <dcterms:created xsi:type="dcterms:W3CDTF">2026-06-12T21:54:30Z</dcterms:created>
  <dcterms:modified xsi:type="dcterms:W3CDTF">2026-06-13T18:42:31Z</dcterms:modified>
</cp:coreProperties>
</file>